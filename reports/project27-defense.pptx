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1.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4.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8589f583c8544dc1" /><Relationship Type="http://schemas.openxmlformats.org/officeDocument/2006/relationships/extended-properties" Target="/docProps/app.xml" Id="R8b274f5af8db49a8" /><Relationship Type="http://schemas.openxmlformats.org/officeDocument/2006/relationships/officeDocument" Target="/ppt/presentation.xml" Id="R97bd2e506bac4049" /></Relationships>
</file>

<file path=ppt/presentation.xml><?xml version="1.0" encoding="utf-8"?>
<p:presentation xmlns:p="http://schemas.openxmlformats.org/presentationml/2006/main">
  <p:sldMasterIdLst>
    <p:sldMasterId xmlns:r="http://schemas.openxmlformats.org/officeDocument/2006/relationships" id="2147483648" r:id="R4363af1b6464481e"/>
  </p:sldMasterIdLst>
  <p:notesMasterIdLst>
    <p:notesMasterId xmlns:r="http://schemas.openxmlformats.org/officeDocument/2006/relationships" r:id="R8d115e06787d4a7a"/>
  </p:notesMasterIdLst>
  <p:sldIdLst>
    <p:sldId xmlns:r="http://schemas.openxmlformats.org/officeDocument/2006/relationships" id="256" r:id="R478824abd10141fd"/>
    <p:sldId xmlns:r="http://schemas.openxmlformats.org/officeDocument/2006/relationships" id="257" r:id="Rd0d2a1b5d53d4341"/>
    <p:sldId xmlns:r="http://schemas.openxmlformats.org/officeDocument/2006/relationships" id="258" r:id="Rb969225f1bf14927"/>
    <p:sldId xmlns:r="http://schemas.openxmlformats.org/officeDocument/2006/relationships" id="259" r:id="R2188b1f0215b4f00"/>
    <p:sldId xmlns:r="http://schemas.openxmlformats.org/officeDocument/2006/relationships" id="260" r:id="R2bb33108a6394c7d"/>
    <p:sldId xmlns:r="http://schemas.openxmlformats.org/officeDocument/2006/relationships" id="261" r:id="R5297f7d2d5324ee9"/>
    <p:sldId xmlns:r="http://schemas.openxmlformats.org/officeDocument/2006/relationships" id="262" r:id="R2e28d0c763614c61"/>
    <p:sldId xmlns:r="http://schemas.openxmlformats.org/officeDocument/2006/relationships" id="263" r:id="Re7e62fbda9e9435a"/>
    <p:sldId xmlns:r="http://schemas.openxmlformats.org/officeDocument/2006/relationships" id="264" r:id="Rf87e131f88034e92"/>
    <p:sldId xmlns:r="http://schemas.openxmlformats.org/officeDocument/2006/relationships" id="265" r:id="R96b7069080fc4a2e"/>
    <p:sldId xmlns:r="http://schemas.openxmlformats.org/officeDocument/2006/relationships" id="266" r:id="R63a22d6fbd2b4c4f"/>
    <p:sldId xmlns:r="http://schemas.openxmlformats.org/officeDocument/2006/relationships" id="267" r:id="R2d5db3102c6e42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6245a98b054544" /><Relationship Type="http://schemas.openxmlformats.org/officeDocument/2006/relationships/slideMaster" Target="/ppt/slideMasters/slideMaster1.xml" Id="R4363af1b6464481e" /><Relationship Type="http://schemas.openxmlformats.org/officeDocument/2006/relationships/notesMaster" Target="/ppt/notesMasters/notesMaster1.xml" Id="R8d115e06787d4a7a" /><Relationship Type="http://schemas.openxmlformats.org/officeDocument/2006/relationships/presProps" Target="/ppt/presProps.xml" Id="R6bf1c2f9648d491c" /><Relationship Type="http://schemas.openxmlformats.org/officeDocument/2006/relationships/tableStyles" Target="/ppt/tableStyles.xml" Id="R6db7cec03650423a" /><Relationship Type="http://schemas.openxmlformats.org/officeDocument/2006/relationships/slide" Target="/ppt/slides/slide1.xml" Id="R478824abd10141fd" /><Relationship Type="http://schemas.openxmlformats.org/officeDocument/2006/relationships/slide" Target="/ppt/slides/slide2.xml" Id="Rd0d2a1b5d53d4341" /><Relationship Type="http://schemas.openxmlformats.org/officeDocument/2006/relationships/slide" Target="/ppt/slides/slide3.xml" Id="Rb969225f1bf14927" /><Relationship Type="http://schemas.openxmlformats.org/officeDocument/2006/relationships/slide" Target="/ppt/slides/slide4.xml" Id="R2188b1f0215b4f00" /><Relationship Type="http://schemas.openxmlformats.org/officeDocument/2006/relationships/slide" Target="/ppt/slides/slide5.xml" Id="R2bb33108a6394c7d" /><Relationship Type="http://schemas.openxmlformats.org/officeDocument/2006/relationships/slide" Target="/ppt/slides/slide6.xml" Id="R5297f7d2d5324ee9" /><Relationship Type="http://schemas.openxmlformats.org/officeDocument/2006/relationships/slide" Target="/ppt/slides/slide7.xml" Id="R2e28d0c763614c61" /><Relationship Type="http://schemas.openxmlformats.org/officeDocument/2006/relationships/slide" Target="/ppt/slides/slide8.xml" Id="Re7e62fbda9e9435a" /><Relationship Type="http://schemas.openxmlformats.org/officeDocument/2006/relationships/slide" Target="/ppt/slides/slide9.xml" Id="Rf87e131f88034e92" /><Relationship Type="http://schemas.openxmlformats.org/officeDocument/2006/relationships/slide" Target="/ppt/slides/slide10.xml" Id="R96b7069080fc4a2e" /><Relationship Type="http://schemas.openxmlformats.org/officeDocument/2006/relationships/slide" Target="/ppt/slides/slide11.xml" Id="R63a22d6fbd2b4c4f" /><Relationship Type="http://schemas.openxmlformats.org/officeDocument/2006/relationships/slide" Target="/ppt/slides/slide12.xml" Id="R2d5db3102c6e42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f0d95dd0474a4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69d6c8ba58e42ba" /><Relationship Type="http://schemas.openxmlformats.org/officeDocument/2006/relationships/notesMaster" Target="/ppt/notesMasters/notesMaster1.xml" Id="R76680ab85c5c40fd" /></Relationships>
</file>

<file path=ppt/notesSlides/_rels/notesSlide2.xml.rels>&#65279;<?xml version="1.0" encoding="utf-8"?><Relationships xmlns="http://schemas.openxmlformats.org/package/2006/relationships"><Relationship Type="http://schemas.openxmlformats.org/officeDocument/2006/relationships/slide" Target="/ppt/slides/slide2.xml" Id="R3d31abe27bd44287" /><Relationship Type="http://schemas.openxmlformats.org/officeDocument/2006/relationships/notesMaster" Target="/ppt/notesMasters/notesMaster1.xml" Id="R7d39a165812c4c7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1feb4c1c3a24be3" /><Relationship Type="http://schemas.openxmlformats.org/officeDocument/2006/relationships/notesMaster" Target="/ppt/notesMasters/notesMaster1.xml" Id="R8a3946bc2ea541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56bad575a745ce" /><Relationship Type="http://schemas.openxmlformats.org/officeDocument/2006/relationships/notesMaster" Target="/ppt/notesMasters/notesMaster1.xml" Id="R090a76791e804fc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c2eff2ee6b4632" /><Relationship Type="http://schemas.openxmlformats.org/officeDocument/2006/relationships/notesMaster" Target="/ppt/notesMasters/notesMaster1.xml" Id="R0e8619f8573d459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57ce2406f3b433c" /><Relationship Type="http://schemas.openxmlformats.org/officeDocument/2006/relationships/notesMaster" Target="/ppt/notesMasters/notesMaster1.xml" Id="Rb167cc00a4d94b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355115c1b44f46" /><Relationship Type="http://schemas.openxmlformats.org/officeDocument/2006/relationships/notesMaster" Target="/ppt/notesMasters/notesMaster1.xml" Id="R2d57d388dc504188" /></Relationships>
</file>

<file path=ppt/notesSlides/_rels/notesSlide8.xml.rels>&#65279;<?xml version="1.0" encoding="utf-8"?><Relationships xmlns="http://schemas.openxmlformats.org/package/2006/relationships"><Relationship Type="http://schemas.openxmlformats.org/officeDocument/2006/relationships/slide" Target="/ppt/slides/slide8.xml" Id="Race4ab12e9674680" /><Relationship Type="http://schemas.openxmlformats.org/officeDocument/2006/relationships/notesMaster" Target="/ppt/notesMasters/notesMaster1.xml" Id="R8969223fa1124ecc" /></Relationships>
</file>

<file path=ppt/notesSlides/_rels/notesSlide9.xml.rels>&#65279;<?xml version="1.0" encoding="utf-8"?><Relationships xmlns="http://schemas.openxmlformats.org/package/2006/relationships"><Relationship Type="http://schemas.openxmlformats.org/officeDocument/2006/relationships/slide" Target="/ppt/slides/slide9.xml" Id="Rf62882398cda4fc1" /><Relationship Type="http://schemas.openxmlformats.org/officeDocument/2006/relationships/notesMaster" Target="/ppt/notesMasters/notesMaster1.xml" Id="Rfdefe7a1cf78461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4e38610da2049bd" /><Relationship Type="http://schemas.openxmlformats.org/officeDocument/2006/relationships/notesMaster" Target="/ppt/notesMasters/notesMaster1.xml" Id="R82b731a83aac40c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70a51f377b14df1" /><Relationship Type="http://schemas.openxmlformats.org/officeDocument/2006/relationships/notesMaster" Target="/ppt/notesMasters/notesMaster1.xml" Id="R53f95615ef5640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5fe572ab3504692" /><Relationship Type="http://schemas.openxmlformats.org/officeDocument/2006/relationships/notesMaster" Target="/ppt/notesMasters/notesMaster1.xml" Id="R253e6dbc79e945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30 giây. Dự án khảo sát mức độ label skew trong Federated Learning. Tôi tự triển khai FedAvg bằng PyTorch, chạy ba seed cho năm cấu hình và so sánh cùng ngân sách xử lý ảnh. Kết quả trình bày là artifact đã train trước. Hình từ Zalando Research, Fashion-MNIST, MIT. https://github.com/zalandoresearch/fashion-mnist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40 giây. Mỗi client giữ dữ liệu train riêng trong mô phỏng. Server nhận model weights và sample counts. Tôi thay tỷ lệ nhãn giữa các client, còn giữ nguyên số client, số mẫu, model, optimizer và ngân sách. Câu hỏi bổ sung là đổi local epochs và tần suất tổng hợp trong cùng ngân sách ảnh sẽ ảnh hưởng thế nào. https://proceedings.mlr.press/v54/mcmahan17a.html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 Fashion-MNIST có 10 class ảnh quần áo, 28×28 một kênh. Official train được chia stratified bằng seed 2026, mỗi class 5.400 train và 600 validation. Test là tập official độc lập. Chuẩn hóa cố định không cần học thống kê từ test. Chọn checkpoint bằng validation rồi mới đánh giá test. https://github.com/zalandoresearch/fashion-mnist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65 giây. Mỗi client ưu thế ở hai class theo hoán vị cố định trong một seed. Mỗi class ưu thế đúng hai client. Quota giữ số mẫu mỗi client bằng nhau và tổng số mẫu mỗi class trong hệ thống không đổi. Strong vẫn có đủ mười class, 92% mẫu thuộc hai class ưu thế. Total variation bằng 0,8 lambda. Source: outputs/partitions/*/manifest.json, kế hoạch Project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45 giây. CNN hai convolution blocks rồi classifier. Không BatchNorm hoặc dropout nên trạng thái đơn giản và giảm yếu tố ngẫu nhiên. Mô hình trả logits, CrossEntropyLoss nhận trực tiếp logits. Pooling giảm chiều không gian từ 28 xuống 14 và 7. Số tham số được unit test kiểm tra. Source: src/models/cnn.py, tests/test_protocol.py.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65 giây. Server tạo snapshot global. Mỗi client bắt đầu từ đúng snapshot này, không tiếp tục model của client trước. Client train E epoch, trả weights và số mẫu riêng. Server trung bình từng tensor bằng trọng số n_k/N. Với quota cân bằng, hệ số mỗi client là 0,1. Server không đọc train images. Kiểm thử dùng tensor tính tay và xác nhận reset snapshot. https://proceedings.mlr.press/v54/mcmahan17a.html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50 giây. Năm cấu hình nhân ba seed. Centralized train 30 epoch. IID/mild/strong train 30 round với E1. Strong E3 train 10 round, E3. Mọi run xử lý 1.620.000 lượt ảnh, không phải số ảnh khác nhau. Khởi tạo giống nhau trong cùng seed. E và R cùng thay ở ablation để giữ ngân sách. Source: configs/*.yaml, outputs/runs/*/manifest.json.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70 giây. Bảng dùng final checkpoint, không chọn checkpoint có max test accuracy. Mean và sample SD tính qua ba seed. Accuracy đơn vị phần trăm, F1 trong [0,1]. Biểu đồ hiển thị mean. Số đầy đủ trong outputs/tables/per_seed.csv và summary.csv. Với ba seed, chỉ mô tả độ ổn định sơ bộ, không tuyên bố ý nghĩa thống kê mạnh.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65 giây. Đường biểu diễn mean ba seed trên test. Toàn bộ checkpoint được đánh giá sau khi train xong và protocol đã khóa. Không xem đường test để lựa chọn seed, lambda hoặc hyperparameter. IID và Non-IID cùng E1, R30. Dải SD có trong figures của báo cáo. Source: outputs/runs/*/test_history.csv.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60 giây. Trục ngang là effective epochs để so cùng compute. Strong E1 và E3 dùng đúng partition và khởi tạo. E3 giảm số lần aggregate xuống một phần ba, local model đi xa hơn trước khi tổng hợp. Chênh lệch chất lượng là trade-off dưới ngân sách cố định, chưa đo ảnh hưởng riêng của E. SCAFFOLD giải thích cơ chế client drift nhưng project này không đo gradient conflict trực tiếp. https://proceedings.mlr.press/v119/karimireddy20a.html Source: outputs/runs/strong*/test_history.csv.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65 giây. Per-class recall tính trên common official test, mỗi class 1.000 ảnh. Nêu class recall thấp nhất từ mean ba seed. Confusion pair minh họa dùng seed42 đã chọn trước. Local validation subsets có phân phối riêng, không dùng để xếp hạng model cá nhân. Hình matrices và per-client tables đầy đủ trong báo cáo. Source: outputs/runs/strong_non_iid/seed_*/final_metrics.json.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115 giây, gồm 35 giây demo. Tóm tắt chênh lệch đo được, không suy rộng tới mọi dataset. Mô phỏng balanced label skew và full participation trên một máy. Không có secure aggregation hoặc differential privacy nên không hứa privacy tuyệt đối. Demo đã train trước: chọn strong/seed42, xem distribution, metrics và dự đoán ảnh test. Mở repo để cho thấy fedavg.py, history.csv và audit. Source: outputs/audit.json, reports/report_vi.md. Privacy reference: https://proceedings.neurips.cc/paper/2019/hash/60a6c4002cc7b29142def8871531281a-Abstract.html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5964e1c81845b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036d57f1a64738" /><Relationship Type="http://schemas.openxmlformats.org/officeDocument/2006/relationships/slideLayout" Target="/ppt/slideLayouts/slideLayout1.xml" Id="R65a2a62599a041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5a2a62599a041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55693a4673e4844" /><Relationship Type="http://schemas.openxmlformats.org/officeDocument/2006/relationships/image" Target="/ppt/media/image.png" Id="Rdbcd0b6e496b4a6e" /><Relationship Type="http://schemas.openxmlformats.org/officeDocument/2006/relationships/notesSlide" Target="/ppt/notesSlides/notesSlide1.xml" Id="R03d7c4f3502b4c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5421523f5da414b" /><Relationship Type="http://schemas.openxmlformats.org/officeDocument/2006/relationships/notesSlide" Target="/ppt/notesSlides/notesSlide2.xml" Id="R182a202948fd42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21b13695f8406d" /><Relationship Type="http://schemas.openxmlformats.org/officeDocument/2006/relationships/notesSlide" Target="/ppt/notesSlides/notesSlide3.xml" Id="Rbad3b1467722495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3964d94754f4d5f" /><Relationship Type="http://schemas.openxmlformats.org/officeDocument/2006/relationships/notesSlide" Target="/ppt/notesSlides/notesSlide4.xml" Id="R7c4f2be1fcaf49c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f95043020f4009" /><Relationship Type="http://schemas.openxmlformats.org/officeDocument/2006/relationships/notesSlide" Target="/ppt/notesSlides/notesSlide5.xml" Id="R58135e95854d46b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be2ac7298be4c18" /><Relationship Type="http://schemas.openxmlformats.org/officeDocument/2006/relationships/notesSlide" Target="/ppt/notesSlides/notesSlide6.xml" Id="R93c86a8718134a6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300604b28d4683" /><Relationship Type="http://schemas.openxmlformats.org/officeDocument/2006/relationships/notesSlide" Target="/ppt/notesSlides/notesSlide7.xml" Id="R543fcb29bf8d45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11b7c3c3348426b" /><Relationship Type="http://schemas.openxmlformats.org/officeDocument/2006/relationships/chart" Target="/ppt/slides/charts/chart1.xml" Id="Rb99e1ae6430d4f65" /><Relationship Type="http://schemas.openxmlformats.org/officeDocument/2006/relationships/notesSlide" Target="/ppt/notesSlides/notesSlide8.xml" Id="Ref822d8cdce449e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6044ef71ce4d1e" /><Relationship Type="http://schemas.openxmlformats.org/officeDocument/2006/relationships/chart" Target="/ppt/slides/charts/chart2.xml" Id="Rb16dd5c405234047" /><Relationship Type="http://schemas.openxmlformats.org/officeDocument/2006/relationships/notesSlide" Target="/ppt/notesSlides/notesSlide9.xml" Id="R8d05d38fc4f2486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ef1a977af384cb1" /><Relationship Type="http://schemas.openxmlformats.org/officeDocument/2006/relationships/chart" Target="/ppt/slides/charts/chart3.xml" Id="Re46881fb79504dfe" /><Relationship Type="http://schemas.openxmlformats.org/officeDocument/2006/relationships/notesSlide" Target="/ppt/notesSlides/notesSlide10.xml" Id="R2ca9ff8e013e46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68e0d2e212c4488" /><Relationship Type="http://schemas.openxmlformats.org/officeDocument/2006/relationships/chart" Target="/ppt/slides/charts/chart4.xml" Id="Rc2a35587552c4b50" /><Relationship Type="http://schemas.openxmlformats.org/officeDocument/2006/relationships/notesSlide" Target="/ppt/notesSlides/notesSlide11.xml" Id="Rfea0fbd731b94fd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c18f70b4cd44247" /><Relationship Type="http://schemas.openxmlformats.org/officeDocument/2006/relationships/notesSlide" Target="/ppt/notesSlides/notesSlide12.xml" Id="R0b4a69a3227f4e1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test accuracy</c:v>
          </c:tx>
          <c:dPt>
            <c:idx val="0"/>
            <c:invertIfNegative val="0"/>
            <c:spPr>
              <a:solidFill xmlns:a="http://schemas.openxmlformats.org/drawingml/2006/main">
                <a:srgbClr val="27374D"/>
              </a:solidFill>
            </c:spPr>
          </c:dPt>
          <c:dPt>
            <c:idx val="1"/>
            <c:invertIfNegative val="0"/>
            <c:spPr>
              <a:solidFill xmlns:a="http://schemas.openxmlformats.org/drawingml/2006/main">
                <a:srgbClr val="007F73"/>
              </a:solidFill>
            </c:spPr>
          </c:dPt>
          <c:dPt>
            <c:idx val="2"/>
            <c:invertIfNegative val="0"/>
            <c:spPr>
              <a:solidFill xmlns:a="http://schemas.openxmlformats.org/drawingml/2006/main">
                <a:srgbClr val="CC8B13"/>
              </a:solidFill>
            </c:spPr>
          </c:dPt>
          <c:dPt>
            <c:idx val="3"/>
            <c:invertIfNegative val="0"/>
            <c:spPr>
              <a:solidFill xmlns:a="http://schemas.openxmlformats.org/drawingml/2006/main">
                <a:srgbClr val="C44752"/>
              </a:solidFill>
            </c:spPr>
          </c:dPt>
          <c:dPt>
            <c:idx val="4"/>
            <c:invertIfNegative val="0"/>
            <c:spPr>
              <a:solidFill xmlns:a="http://schemas.openxmlformats.org/drawingml/2006/main">
                <a:srgbClr val="7055A4"/>
              </a:solidFill>
            </c:spPr>
          </c:dPt>
          <c:cat>
            <c:strRef>
              <c:f>'Chart Data'!$A$2:$A$6</c:f>
              <c:strCache>
                <c:ptCount val="5"/>
                <c:pt idx="0">
                  <c:v>CEN</c:v>
                </c:pt>
                <c:pt idx="1">
                  <c:v>IID</c:v>
                </c:pt>
                <c:pt idx="2">
                  <c:v>Mild</c:v>
                </c:pt>
                <c:pt idx="3">
                  <c:v>Strong</c:v>
                </c:pt>
                <c:pt idx="4">
                  <c:v>E3</c:v>
                </c:pt>
              </c:strCache>
            </c:strRef>
          </c:cat>
          <c:val>
            <c:numRef>
              <c:f>'Chart Data'!$B$2:$B$6</c:f>
              <c:numCache>
                <c:formatCode>0%</c:formatCode>
                <c:ptCount val="5"/>
                <c:pt idx="0">
                  <c:v>0.90133333</c:v>
                </c:pt>
                <c:pt idx="1">
                  <c:v>0.83253333</c:v>
                </c:pt>
                <c:pt idx="2">
                  <c:v>0.81926667</c:v>
                </c:pt>
                <c:pt idx="3">
                  <c:v>0.7773</c:v>
                </c:pt>
                <c:pt idx="4">
                  <c:v>0.77773333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Cấu hình</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7374D"/>
                </a:solidFill>
                <a:latin typeface="Arial"/>
                <a:ea typeface="Arial"/>
                <a:cs typeface="Arial"/>
              </a:defRPr>
            </a:pPr>
          </a:p>
        </c:txPr>
        <c:crossAx val="48672768"/>
      </c:catAx>
      <c:valAx>
        <c:axId val="48672768"/>
        <c:scaling>
          <c:orientation val="minMax"/>
          <c:max val="1"/>
          <c:min val="0"/>
        </c:scaling>
        <c:delete val="0"/>
        <c:axPos val="l"/>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7374D"/>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IID</c:v>
          </c:tx>
          <c:spPr>
            <a:ln xmlns:a="http://schemas.openxmlformats.org/drawingml/2006/main" w="28575">
              <a:solidFill>
                <a:srgbClr val="007F73"/>
              </a:solidFill>
            </a:ln>
          </c:spPr>
          <c:marker>
            <c:symbol val="none"/>
          </c:marker>
          <c:cat>
            <c:numRef>
              <c:f>'Chart Data'!$A$2:$A$32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cat>
          <c:val>
            <c:numRef>
              <c:f>'Chart Data'!$B$2:$B$32</c:f>
              <c:numCache>
                <c:formatCode>0%</c:formatCode>
                <c:ptCount val="31"/>
                <c:pt idx="0">
                  <c:v>0.11436667</c:v>
                </c:pt>
                <c:pt idx="1">
                  <c:v>0.36766667</c:v>
                </c:pt>
                <c:pt idx="2">
                  <c:v>0.5105</c:v>
                </c:pt>
                <c:pt idx="3">
                  <c:v>0.6829</c:v>
                </c:pt>
                <c:pt idx="4">
                  <c:v>0.7093</c:v>
                </c:pt>
                <c:pt idx="5">
                  <c:v>0.72976667</c:v>
                </c:pt>
                <c:pt idx="6">
                  <c:v>0.74473333</c:v>
                </c:pt>
                <c:pt idx="7">
                  <c:v>0.7536</c:v>
                </c:pt>
                <c:pt idx="8">
                  <c:v>0.7604</c:v>
                </c:pt>
                <c:pt idx="9">
                  <c:v>0.76526667</c:v>
                </c:pt>
                <c:pt idx="10">
                  <c:v>0.7733</c:v>
                </c:pt>
                <c:pt idx="11">
                  <c:v>0.77773333</c:v>
                </c:pt>
                <c:pt idx="12">
                  <c:v>0.78096667</c:v>
                </c:pt>
                <c:pt idx="13">
                  <c:v>0.78883333</c:v>
                </c:pt>
                <c:pt idx="14">
                  <c:v>0.79066667</c:v>
                </c:pt>
                <c:pt idx="15">
                  <c:v>0.79463333</c:v>
                </c:pt>
                <c:pt idx="16">
                  <c:v>0.79446667</c:v>
                </c:pt>
                <c:pt idx="17">
                  <c:v>0.80183333</c:v>
                </c:pt>
                <c:pt idx="18">
                  <c:v>0.8053</c:v>
                </c:pt>
                <c:pt idx="19">
                  <c:v>0.79936667</c:v>
                </c:pt>
                <c:pt idx="20">
                  <c:v>0.81156667</c:v>
                </c:pt>
                <c:pt idx="21">
                  <c:v>0.81726667</c:v>
                </c:pt>
                <c:pt idx="22">
                  <c:v>0.8192</c:v>
                </c:pt>
                <c:pt idx="23">
                  <c:v>0.81523333</c:v>
                </c:pt>
                <c:pt idx="24">
                  <c:v>0.82176667</c:v>
                </c:pt>
                <c:pt idx="25">
                  <c:v>0.82646667</c:v>
                </c:pt>
                <c:pt idx="26">
                  <c:v>0.82263333</c:v>
                </c:pt>
                <c:pt idx="27">
                  <c:v>0.82466667</c:v>
                </c:pt>
                <c:pt idx="28">
                  <c:v>0.83176667</c:v>
                </c:pt>
                <c:pt idx="29">
                  <c:v>0.83546667</c:v>
                </c:pt>
                <c:pt idx="30">
                  <c:v>0.83253333</c:v>
                </c:pt>
              </c:numCache>
            </c:numRef>
          </c:val>
        </c:ser>
        <c:ser>
          <c:idx val="1"/>
          <c:order val="1"/>
          <c:tx>
            <c:v>Mild</c:v>
          </c:tx>
          <c:spPr>
            <a:ln xmlns:a="http://schemas.openxmlformats.org/drawingml/2006/main" w="28575">
              <a:solidFill>
                <a:srgbClr val="CC8B13"/>
              </a:solidFill>
            </a:ln>
          </c:spPr>
          <c:marker>
            <c:symbol val="none"/>
          </c:marker>
          <c:cat>
            <c:numRef>
              <c:f>'Chart Data'!$C$2:$C$32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cat>
          <c:val>
            <c:numRef>
              <c:f>'Chart Data'!$D$2:$D$32</c:f>
              <c:numCache>
                <c:formatCode>0%</c:formatCode>
                <c:ptCount val="31"/>
                <c:pt idx="0">
                  <c:v>0.11436667</c:v>
                </c:pt>
                <c:pt idx="1">
                  <c:v>0.3033</c:v>
                </c:pt>
                <c:pt idx="2">
                  <c:v>0.59163333</c:v>
                </c:pt>
                <c:pt idx="3">
                  <c:v>0.68176667</c:v>
                </c:pt>
                <c:pt idx="4">
                  <c:v>0.7184</c:v>
                </c:pt>
                <c:pt idx="5">
                  <c:v>0.72836667</c:v>
                </c:pt>
                <c:pt idx="6">
                  <c:v>0.73083333</c:v>
                </c:pt>
                <c:pt idx="7">
                  <c:v>0.74716667</c:v>
                </c:pt>
                <c:pt idx="8">
                  <c:v>0.75543333</c:v>
                </c:pt>
                <c:pt idx="9">
                  <c:v>0.75833333</c:v>
                </c:pt>
                <c:pt idx="10">
                  <c:v>0.76366667</c:v>
                </c:pt>
                <c:pt idx="11">
                  <c:v>0.7702</c:v>
                </c:pt>
                <c:pt idx="12">
                  <c:v>0.7685</c:v>
                </c:pt>
                <c:pt idx="13">
                  <c:v>0.77003333</c:v>
                </c:pt>
                <c:pt idx="14">
                  <c:v>0.77783333</c:v>
                </c:pt>
                <c:pt idx="15">
                  <c:v>0.78306667</c:v>
                </c:pt>
                <c:pt idx="16">
                  <c:v>0.78576667</c:v>
                </c:pt>
                <c:pt idx="17">
                  <c:v>0.7877</c:v>
                </c:pt>
                <c:pt idx="18">
                  <c:v>0.79453333</c:v>
                </c:pt>
                <c:pt idx="19">
                  <c:v>0.7949</c:v>
                </c:pt>
                <c:pt idx="20">
                  <c:v>0.79943333</c:v>
                </c:pt>
                <c:pt idx="21">
                  <c:v>0.8029</c:v>
                </c:pt>
                <c:pt idx="22">
                  <c:v>0.79856667</c:v>
                </c:pt>
                <c:pt idx="23">
                  <c:v>0.80693333</c:v>
                </c:pt>
                <c:pt idx="24">
                  <c:v>0.80676667</c:v>
                </c:pt>
                <c:pt idx="25">
                  <c:v>0.81136667</c:v>
                </c:pt>
                <c:pt idx="26">
                  <c:v>0.81333333</c:v>
                </c:pt>
                <c:pt idx="27">
                  <c:v>0.8171</c:v>
                </c:pt>
                <c:pt idx="28">
                  <c:v>0.81446667</c:v>
                </c:pt>
                <c:pt idx="29">
                  <c:v>0.82116667</c:v>
                </c:pt>
                <c:pt idx="30">
                  <c:v>0.81926667</c:v>
                </c:pt>
              </c:numCache>
            </c:numRef>
          </c:val>
        </c:ser>
        <c:ser>
          <c:idx val="2"/>
          <c:order val="2"/>
          <c:tx>
            <c:v>Strong</c:v>
          </c:tx>
          <c:spPr>
            <a:ln xmlns:a="http://schemas.openxmlformats.org/drawingml/2006/main" w="28575">
              <a:solidFill>
                <a:srgbClr val="C44752"/>
              </a:solidFill>
            </a:ln>
          </c:spPr>
          <c:marker>
            <c:symbol val="none"/>
          </c:marker>
          <c:cat>
            <c:numRef>
              <c:f>'Chart Data'!$E$2:$E$32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cat>
          <c:val>
            <c:numRef>
              <c:f>'Chart Data'!$F$2:$F$32</c:f>
              <c:numCache>
                <c:formatCode>0%</c:formatCode>
                <c:ptCount val="31"/>
                <c:pt idx="0">
                  <c:v>0.11436667</c:v>
                </c:pt>
                <c:pt idx="1">
                  <c:v>0.2281</c:v>
                </c:pt>
                <c:pt idx="2">
                  <c:v>0.5002</c:v>
                </c:pt>
                <c:pt idx="3">
                  <c:v>0.63336667</c:v>
                </c:pt>
                <c:pt idx="4">
                  <c:v>0.67373333</c:v>
                </c:pt>
                <c:pt idx="5">
                  <c:v>0.6982</c:v>
                </c:pt>
                <c:pt idx="6">
                  <c:v>0.711</c:v>
                </c:pt>
                <c:pt idx="7">
                  <c:v>0.7203</c:v>
                </c:pt>
                <c:pt idx="8">
                  <c:v>0.72183333</c:v>
                </c:pt>
                <c:pt idx="9">
                  <c:v>0.73066667</c:v>
                </c:pt>
                <c:pt idx="10">
                  <c:v>0.73883333</c:v>
                </c:pt>
                <c:pt idx="11">
                  <c:v>0.73433333</c:v>
                </c:pt>
                <c:pt idx="12">
                  <c:v>0.7419</c:v>
                </c:pt>
                <c:pt idx="13">
                  <c:v>0.74533333</c:v>
                </c:pt>
                <c:pt idx="14">
                  <c:v>0.74946667</c:v>
                </c:pt>
                <c:pt idx="15">
                  <c:v>0.74803333</c:v>
                </c:pt>
                <c:pt idx="16">
                  <c:v>0.75266667</c:v>
                </c:pt>
                <c:pt idx="17">
                  <c:v>0.75176667</c:v>
                </c:pt>
                <c:pt idx="18">
                  <c:v>0.7573</c:v>
                </c:pt>
                <c:pt idx="19">
                  <c:v>0.75763333</c:v>
                </c:pt>
                <c:pt idx="20">
                  <c:v>0.76146667</c:v>
                </c:pt>
                <c:pt idx="21">
                  <c:v>0.76573333</c:v>
                </c:pt>
                <c:pt idx="22">
                  <c:v>0.7647</c:v>
                </c:pt>
                <c:pt idx="23">
                  <c:v>0.76583333</c:v>
                </c:pt>
                <c:pt idx="24">
                  <c:v>0.76916667</c:v>
                </c:pt>
                <c:pt idx="25">
                  <c:v>0.77106667</c:v>
                </c:pt>
                <c:pt idx="26">
                  <c:v>0.77376667</c:v>
                </c:pt>
                <c:pt idx="27">
                  <c:v>0.77276667</c:v>
                </c:pt>
                <c:pt idx="28">
                  <c:v>0.77266667</c:v>
                </c:pt>
                <c:pt idx="29">
                  <c:v>0.7779</c:v>
                </c:pt>
                <c:pt idx="30">
                  <c:v>0.7773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Communication round</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7374D"/>
                </a:solidFill>
                <a:latin typeface="Arial"/>
                <a:ea typeface="Arial"/>
                <a:cs typeface="Arial"/>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Global test accuracy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7374D"/>
                </a:solidFill>
                <a:latin typeface="Arial"/>
                <a:ea typeface="Arial"/>
                <a:cs typeface="Arial"/>
              </a:defRPr>
            </a:pPr>
          </a:p>
        </c:txPr>
        <c:crossAx val="48650112"/>
        <c:crossBetween val="between"/>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737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scatterChart>
        <c:scatterStyle val="lineMarker"/>
        <c:ser>
          <c:idx val="0"/>
          <c:order val="0"/>
          <c:tx>
            <c:v>Strong</c:v>
          </c:tx>
          <c:spPr>
            <a:ln xmlns:a="http://schemas.openxmlformats.org/drawingml/2006/main" w="28575">
              <a:solidFill>
                <a:srgbClr val="C44752"/>
              </a:solidFill>
            </a:ln>
          </c:spPr>
          <c:marker>
            <c:symbol val="circle"/>
            <c:size val="5"/>
            <c:spPr>
              <a:solidFill xmlns:a="http://schemas.openxmlformats.org/drawingml/2006/main">
                <a:srgbClr val="C44752"/>
              </a:solidFill>
            </c:spPr>
          </c:marker>
          <c:xVal>
            <c:numRef>
              <c:f>'Chart Data'!$A$2:$A$32</c:f>
              <c:numCache>
                <c:formatCode>General</c:formatCode>
                <c:ptCount val="3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numCache>
            </c:numRef>
          </c:xVal>
          <c:yVal>
            <c:numRef>
              <c:f>'Chart Data'!$B$2:$B$32</c:f>
              <c:numCache>
                <c:formatCode>0%</c:formatCode>
                <c:ptCount val="31"/>
                <c:pt idx="0">
                  <c:v>0.11436667</c:v>
                </c:pt>
                <c:pt idx="1">
                  <c:v>0.2281</c:v>
                </c:pt>
                <c:pt idx="2">
                  <c:v>0.5002</c:v>
                </c:pt>
                <c:pt idx="3">
                  <c:v>0.63336667</c:v>
                </c:pt>
                <c:pt idx="4">
                  <c:v>0.67373333</c:v>
                </c:pt>
                <c:pt idx="5">
                  <c:v>0.6982</c:v>
                </c:pt>
                <c:pt idx="6">
                  <c:v>0.711</c:v>
                </c:pt>
                <c:pt idx="7">
                  <c:v>0.7203</c:v>
                </c:pt>
                <c:pt idx="8">
                  <c:v>0.72183333</c:v>
                </c:pt>
                <c:pt idx="9">
                  <c:v>0.73066667</c:v>
                </c:pt>
                <c:pt idx="10">
                  <c:v>0.73883333</c:v>
                </c:pt>
                <c:pt idx="11">
                  <c:v>0.73433333</c:v>
                </c:pt>
                <c:pt idx="12">
                  <c:v>0.7419</c:v>
                </c:pt>
                <c:pt idx="13">
                  <c:v>0.74533333</c:v>
                </c:pt>
                <c:pt idx="14">
                  <c:v>0.74946667</c:v>
                </c:pt>
                <c:pt idx="15">
                  <c:v>0.74803333</c:v>
                </c:pt>
                <c:pt idx="16">
                  <c:v>0.75266667</c:v>
                </c:pt>
                <c:pt idx="17">
                  <c:v>0.75176667</c:v>
                </c:pt>
                <c:pt idx="18">
                  <c:v>0.7573</c:v>
                </c:pt>
                <c:pt idx="19">
                  <c:v>0.75763333</c:v>
                </c:pt>
                <c:pt idx="20">
                  <c:v>0.76146667</c:v>
                </c:pt>
                <c:pt idx="21">
                  <c:v>0.76573333</c:v>
                </c:pt>
                <c:pt idx="22">
                  <c:v>0.7647</c:v>
                </c:pt>
                <c:pt idx="23">
                  <c:v>0.76583333</c:v>
                </c:pt>
                <c:pt idx="24">
                  <c:v>0.76916667</c:v>
                </c:pt>
                <c:pt idx="25">
                  <c:v>0.77106667</c:v>
                </c:pt>
                <c:pt idx="26">
                  <c:v>0.77376667</c:v>
                </c:pt>
                <c:pt idx="27">
                  <c:v>0.77276667</c:v>
                </c:pt>
                <c:pt idx="28">
                  <c:v>0.77266667</c:v>
                </c:pt>
                <c:pt idx="29">
                  <c:v>0.7779</c:v>
                </c:pt>
                <c:pt idx="30">
                  <c:v>0.7773</c:v>
                </c:pt>
              </c:numCache>
            </c:numRef>
          </c:yVal>
        </c:ser>
        <c:ser>
          <c:idx val="1"/>
          <c:order val="1"/>
          <c:tx>
            <c:v>Strong E3</c:v>
          </c:tx>
          <c:spPr>
            <a:ln xmlns:a="http://schemas.openxmlformats.org/drawingml/2006/main" w="28575">
              <a:solidFill>
                <a:srgbClr val="7055A4"/>
              </a:solidFill>
            </a:ln>
          </c:spPr>
          <c:marker>
            <c:symbol val="circle"/>
            <c:size val="5"/>
            <c:spPr>
              <a:solidFill xmlns:a="http://schemas.openxmlformats.org/drawingml/2006/main">
                <a:srgbClr val="7055A4"/>
              </a:solidFill>
            </c:spPr>
          </c:marker>
          <c:xVal>
            <c:numRef>
              <c:f>'Chart Data'!$C$2:$C$12</c:f>
              <c:numCache>
                <c:formatCode>General</c:formatCode>
                <c:ptCount val="11"/>
                <c:pt idx="0">
                  <c:v>0</c:v>
                </c:pt>
                <c:pt idx="1">
                  <c:v>3</c:v>
                </c:pt>
                <c:pt idx="2">
                  <c:v>6</c:v>
                </c:pt>
                <c:pt idx="3">
                  <c:v>9</c:v>
                </c:pt>
                <c:pt idx="4">
                  <c:v>12</c:v>
                </c:pt>
                <c:pt idx="5">
                  <c:v>15</c:v>
                </c:pt>
                <c:pt idx="6">
                  <c:v>18</c:v>
                </c:pt>
                <c:pt idx="7">
                  <c:v>21</c:v>
                </c:pt>
                <c:pt idx="8">
                  <c:v>24</c:v>
                </c:pt>
                <c:pt idx="9">
                  <c:v>27</c:v>
                </c:pt>
                <c:pt idx="10">
                  <c:v>30</c:v>
                </c:pt>
              </c:numCache>
            </c:numRef>
          </c:xVal>
          <c:yVal>
            <c:numRef>
              <c:f>'Chart Data'!$D$2:$D$12</c:f>
              <c:numCache>
                <c:formatCode>0%</c:formatCode>
                <c:ptCount val="11"/>
                <c:pt idx="0">
                  <c:v>0.11436667</c:v>
                </c:pt>
                <c:pt idx="1">
                  <c:v>0.43763333</c:v>
                </c:pt>
                <c:pt idx="2">
                  <c:v>0.68513333</c:v>
                </c:pt>
                <c:pt idx="3">
                  <c:v>0.72293333</c:v>
                </c:pt>
                <c:pt idx="4">
                  <c:v>0.74006667</c:v>
                </c:pt>
                <c:pt idx="5">
                  <c:v>0.74713333</c:v>
                </c:pt>
                <c:pt idx="6">
                  <c:v>0.75383333</c:v>
                </c:pt>
                <c:pt idx="7">
                  <c:v>0.76496667</c:v>
                </c:pt>
                <c:pt idx="8">
                  <c:v>0.7688</c:v>
                </c:pt>
                <c:pt idx="9">
                  <c:v>0.7746</c:v>
                </c:pt>
                <c:pt idx="10">
                  <c:v>0.77773333</c:v>
                </c:pt>
              </c:numCache>
            </c:numRef>
          </c:y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Global test accuracy</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7374D"/>
                </a:solidFill>
                <a:latin typeface="Arial"/>
                <a:ea typeface="Arial"/>
                <a:cs typeface="Arial"/>
              </a:defRPr>
            </a:pPr>
          </a:p>
        </c:txPr>
        <c:crossAx val="48650112"/>
      </c:valAx>
      <c:valAx>
        <c:axId val="48650112"/>
        <c:scaling>
          <c:orientation val="minMax"/>
          <c:max val="3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Effective epochs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7374D"/>
                </a:solidFill>
                <a:latin typeface="Arial"/>
                <a:ea typeface="Arial"/>
                <a:cs typeface="Arial"/>
              </a:defRPr>
            </a:pPr>
          </a:p>
        </c:txPr>
        <c:crossAx val="48672768"/>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27374D"/>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Strong mean recall</c:v>
          </c:tx>
          <c:spPr>
            <a:solidFill xmlns:a="http://schemas.openxmlformats.org/drawingml/2006/main">
              <a:srgbClr val="C44752"/>
            </a:solidFill>
          </c:spPr>
          <c:cat>
            <c:strRef>
              <c:f>'Chart Data'!$A$2:$A$11</c:f>
              <c:strCache>
                <c:ptCount val="10"/>
                <c:pt idx="0">
                  <c:v>T-shirt/top</c:v>
                </c:pt>
                <c:pt idx="1">
                  <c:v>Trouser</c:v>
                </c:pt>
                <c:pt idx="2">
                  <c:v>Pullover</c:v>
                </c:pt>
                <c:pt idx="3">
                  <c:v>Dress</c:v>
                </c:pt>
                <c:pt idx="4">
                  <c:v>Coat</c:v>
                </c:pt>
                <c:pt idx="5">
                  <c:v>Sandal</c:v>
                </c:pt>
                <c:pt idx="6">
                  <c:v>Shirt</c:v>
                </c:pt>
                <c:pt idx="7">
                  <c:v>Sneaker</c:v>
                </c:pt>
                <c:pt idx="8">
                  <c:v>Bag</c:v>
                </c:pt>
                <c:pt idx="9">
                  <c:v>Ankle boot</c:v>
                </c:pt>
              </c:strCache>
            </c:strRef>
          </c:cat>
          <c:val>
            <c:numRef>
              <c:f>'Chart Data'!$B$2:$B$11</c:f>
              <c:numCache>
                <c:formatCode>0%</c:formatCode>
                <c:ptCount val="10"/>
                <c:pt idx="0">
                  <c:v>0.789</c:v>
                </c:pt>
                <c:pt idx="1">
                  <c:v>0.92433333</c:v>
                </c:pt>
                <c:pt idx="2">
                  <c:v>0.63633333</c:v>
                </c:pt>
                <c:pt idx="3">
                  <c:v>0.82866667</c:v>
                </c:pt>
                <c:pt idx="4">
                  <c:v>0.71933333</c:v>
                </c:pt>
                <c:pt idx="5">
                  <c:v>0.90266667</c:v>
                </c:pt>
                <c:pt idx="6">
                  <c:v>0.269</c:v>
                </c:pt>
                <c:pt idx="7">
                  <c:v>0.85333333</c:v>
                </c:pt>
                <c:pt idx="8">
                  <c:v>0.91</c:v>
                </c:pt>
                <c:pt idx="9">
                  <c:v>0.94033333</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bar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Fashion-MNIST class</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7374D"/>
                </a:solidFill>
                <a:latin typeface="Arial"/>
                <a:ea typeface="Arial"/>
                <a:cs typeface="Arial"/>
              </a:defRPr>
            </a:pPr>
          </a:p>
        </c:txPr>
        <c:crossAx val="48672768"/>
      </c:catAx>
      <c:valAx>
        <c:axId val="48672768"/>
        <c:scaling>
          <c:orientation val="minMax"/>
          <c:max val="1"/>
          <c:min val="0"/>
        </c:scaling>
        <c:delete val="0"/>
        <c:axPos val="l"/>
        <c:title>
          <c:tx>
            <c:rich>
              <a:bodyPr xmlns:a="http://schemas.openxmlformats.org/drawingml/2006/main"/>
              <a:lstStyle xmlns:a="http://schemas.openxmlformats.org/drawingml/2006/main"/>
              <a:p xmlns:a="http://schemas.openxmlformats.org/drawingml/2006/main">
                <a:r>
                  <a:rPr>
                    <a:latin typeface="Arial"/>
                    <a:ea typeface="Arial"/>
                    <a:cs typeface="Arial"/>
                  </a:rPr>
                  <a:t>Recall</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27374D"/>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0C8A4D3-A3CE-4F61-B842-1943173D9DE6}"/>
              </a:ext>
            </a:extLst>
          </p:cNvPr>
          <p:cNvSpPr>
            <a:spLocks xmlns:a="http://schemas.openxmlformats.org/drawingml/2006/main" noGrp="1"/>
          </p:cNvSpPr>
          <p:nvPr/>
        </p:nvSpPr>
        <p:spPr>
          <a:xfrm xmlns:a="http://schemas.openxmlformats.org/drawingml/2006/main">
            <a:off x="609600" y="1295400"/>
            <a:ext cx="64770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1">
                <a:solidFill>
                  <a:srgbClr val="27374D"/>
                </a:solidFill>
                <a:latin typeface="Arial"/>
                <a:ea typeface="Arial"/>
                <a:cs typeface="Arial"/>
              </a:defRPr>
            </a:pPr>
            <a:r>
              <a:rPr sz="4500" b="1">
                <a:solidFill>
                  <a:srgbClr val="27374D"/>
                </a:solidFill>
                <a:latin typeface="Arial"/>
                <a:ea typeface="Arial"/>
                <a:cs typeface="Arial"/>
              </a:rPr>
              <a:t>Federated Image</a:t>
            </a:r>
          </a:p>
          <a:p xmlns:a="http://schemas.openxmlformats.org/drawingml/2006/main">
            <a:pPr>
              <a:defRPr sz="4500" b="1">
                <a:solidFill>
                  <a:srgbClr val="27374D"/>
                </a:solidFill>
                <a:latin typeface="Arial"/>
                <a:ea typeface="Arial"/>
                <a:cs typeface="Arial"/>
              </a:defRPr>
            </a:pPr>
            <a:r>
              <a:rPr sz="4500" b="1">
                <a:solidFill>
                  <a:srgbClr val="27374D"/>
                </a:solidFill>
                <a:latin typeface="Arial"/>
                <a:ea typeface="Arial"/>
                <a:cs typeface="Arial"/>
              </a:rPr>
              <a:t>Classification</a:t>
            </a:r>
          </a:p>
        </p:txBody>
      </p:sp>
      <p:sp>
        <p:nvSpPr>
          <p:cNvPr id="2" name="">
            <a:extLst xmlns:a="http://schemas.openxmlformats.org/drawingml/2006/main">
              <a:ext uri="{FF2B5EF4-FFF2-40B4-BE49-F238E27FC236}">
                <a16:creationId xmlns:a16="http://schemas.microsoft.com/office/drawing/2014/main" id="{36A1DC15-CA28-4A78-AD4D-5DACF3F773A1}"/>
              </a:ext>
            </a:extLst>
          </p:cNvPr>
          <p:cNvSpPr>
            <a:spLocks xmlns:a="http://schemas.openxmlformats.org/drawingml/2006/main" noGrp="1"/>
          </p:cNvSpPr>
          <p:nvPr/>
        </p:nvSpPr>
        <p:spPr>
          <a:xfrm xmlns:a="http://schemas.openxmlformats.org/drawingml/2006/main">
            <a:off x="647700" y="3333750"/>
            <a:ext cx="6143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007F73"/>
                </a:solidFill>
                <a:latin typeface="Arial"/>
                <a:ea typeface="Arial"/>
                <a:cs typeface="Arial"/>
              </a:defRPr>
            </a:pPr>
            <a:r>
              <a:rPr sz="2400" b="0">
                <a:solidFill>
                  <a:srgbClr val="007F73"/>
                </a:solidFill>
                <a:latin typeface="Arial"/>
                <a:ea typeface="Arial"/>
                <a:cs typeface="Arial"/>
              </a:rPr>
              <a:t>Ảnh hưởng của Non-IID label skew</a:t>
            </a:r>
          </a:p>
        </p:txBody>
      </p:sp>
      <p:sp>
        <p:nvSpPr>
          <p:cNvPr id="3" name="">
            <a:extLst xmlns:a="http://schemas.openxmlformats.org/drawingml/2006/main">
              <a:ext uri="{FF2B5EF4-FFF2-40B4-BE49-F238E27FC236}">
                <a16:creationId xmlns:a16="http://schemas.microsoft.com/office/drawing/2014/main" id="{499E1C15-BC9D-45FB-B79F-1085CFDD0DC3}"/>
              </a:ext>
            </a:extLst>
          </p:cNvPr>
          <p:cNvSpPr>
            <a:spLocks xmlns:a="http://schemas.openxmlformats.org/drawingml/2006/main" noGrp="1"/>
          </p:cNvSpPr>
          <p:nvPr/>
        </p:nvSpPr>
        <p:spPr>
          <a:xfrm xmlns:a="http://schemas.openxmlformats.org/drawingml/2006/main">
            <a:off x="647700" y="4762500"/>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27374D"/>
                </a:solidFill>
                <a:latin typeface="Arial"/>
                <a:ea typeface="Arial"/>
                <a:cs typeface="Arial"/>
              </a:defRPr>
            </a:pPr>
            <a:r>
              <a:rPr sz="1875" b="0">
                <a:solidFill>
                  <a:srgbClr val="27374D"/>
                </a:solidFill>
                <a:latin typeface="Arial"/>
                <a:ea typeface="Arial"/>
                <a:cs typeface="Arial"/>
              </a:rPr>
              <a:t>Project 27</a:t>
            </a:r>
          </a:p>
          <a:p xmlns:a="http://schemas.openxmlformats.org/drawingml/2006/main">
            <a:pPr>
              <a:defRPr sz="1875" b="0">
                <a:solidFill>
                  <a:srgbClr val="27374D"/>
                </a:solidFill>
                <a:latin typeface="Arial"/>
                <a:ea typeface="Arial"/>
                <a:cs typeface="Arial"/>
              </a:defRPr>
            </a:pPr>
            <a:r>
              <a:rPr sz="1875" b="0">
                <a:solidFill>
                  <a:srgbClr val="27374D"/>
                </a:solidFill>
                <a:latin typeface="Arial"/>
                <a:ea typeface="Arial"/>
                <a:cs typeface="Arial"/>
              </a:rPr>
              <a:t>Fashion-MNIST · FedAvg · 15 lần chạy thật</a:t>
            </a:r>
          </a:p>
        </p:txBody>
      </p:sp>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dbcd0b6e496b4a6e"/>
          <a:stretch xmlns:a="http://schemas.openxmlformats.org/drawingml/2006/main"/>
        </p:blipFill>
        <p:spPr>
          <a:xfrm xmlns:a="http://schemas.openxmlformats.org/drawingml/2006/main">
            <a:off x="7524750" y="1524000"/>
            <a:ext cx="4000500" cy="4000500"/>
          </a:xfrm>
          <a:prstGeom xmlns:a="http://schemas.openxmlformats.org/drawingml/2006/main" prst="rect">
            <a:avLst/>
          </a:prstGeom>
        </p:spPr>
      </p:pic>
    </p:spTree>
    <p:extLst>
      <p:ext uri="{BB962C8B-B14F-4D97-AF65-F5344CB8AC3E}">
        <p14:creationId xmlns:p14="http://schemas.microsoft.com/office/powerpoint/2010/main" val="212009161"/>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61D500D-83C1-4E56-8D12-29C98169A70C}"/>
              </a:ext>
            </a:extLst>
          </p:cNvPr>
          <p:cNvSpPr>
            <a:spLocks xmlns:a="http://schemas.openxmlformats.org/drawingml/2006/main" noGrp="1"/>
          </p:cNvSpPr>
          <p:nvPr/>
        </p:nvSpPr>
        <p:spPr>
          <a:xfrm xmlns:a="http://schemas.openxmlformats.org/drawingml/2006/main">
            <a:off x="609600" y="3810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7374D"/>
                </a:solidFill>
                <a:latin typeface="Arial"/>
                <a:ea typeface="Arial"/>
                <a:cs typeface="Arial"/>
              </a:defRPr>
            </a:pPr>
            <a:r>
              <a:rPr sz="3300" b="1">
                <a:solidFill>
                  <a:srgbClr val="27374D"/>
                </a:solidFill>
                <a:latin typeface="Arial"/>
                <a:ea typeface="Arial"/>
                <a:cs typeface="Arial"/>
              </a:rPr>
              <a:t>Câu hỏi nghiên cứu</a:t>
            </a:r>
          </a:p>
        </p:txBody>
      </p:sp>
      <p:sp>
        <p:nvSpPr>
          <p:cNvPr id="2" name="">
            <a:extLst xmlns:a="http://schemas.openxmlformats.org/drawingml/2006/main">
              <a:ext uri="{FF2B5EF4-FFF2-40B4-BE49-F238E27FC236}">
                <a16:creationId xmlns:a16="http://schemas.microsoft.com/office/drawing/2014/main" id="{829C68A5-8763-4E07-B0E1-366EE0B35B37}"/>
              </a:ext>
            </a:extLst>
          </p:cNvPr>
          <p:cNvSpPr>
            <a:spLocks xmlns:a="http://schemas.openxmlformats.org/drawingml/2006/main" noGrp="1"/>
          </p:cNvSpPr>
          <p:nvPr/>
        </p:nvSpPr>
        <p:spPr>
          <a:xfrm xmlns:a="http://schemas.openxmlformats.org/drawingml/2006/main">
            <a:off x="11125200" y="62960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82"/>
                </a:solidFill>
                <a:latin typeface="Arial"/>
                <a:ea typeface="Arial"/>
                <a:cs typeface="Arial"/>
              </a:defRPr>
            </a:pPr>
            <a:r>
              <a:rPr sz="1350" b="0">
                <a:solidFill>
                  <a:srgbClr val="687482"/>
                </a:solidFill>
                <a:latin typeface="Arial"/>
                <a:ea typeface="Arial"/>
                <a:cs typeface="Arial"/>
              </a:rPr>
              <a:t>02</a:t>
            </a:r>
          </a:p>
        </p:txBody>
      </p:sp>
      <p:sp>
        <p:nvSpPr>
          <p:cNvPr id="3" name="">
            <a:extLst xmlns:a="http://schemas.openxmlformats.org/drawingml/2006/main">
              <a:ext uri="{FF2B5EF4-FFF2-40B4-BE49-F238E27FC236}">
                <a16:creationId xmlns:a16="http://schemas.microsoft.com/office/drawing/2014/main" id="{AD7EDC14-882E-4A76-B7D9-631B5F406B3D}"/>
              </a:ext>
            </a:extLst>
          </p:cNvPr>
          <p:cNvSpPr>
            <a:spLocks xmlns:a="http://schemas.openxmlformats.org/drawingml/2006/main" noGrp="1"/>
          </p:cNvSpPr>
          <p:nvPr/>
        </p:nvSpPr>
        <p:spPr>
          <a:xfrm xmlns:a="http://schemas.openxmlformats.org/drawingml/2006/main">
            <a:off x="609600" y="1714500"/>
            <a:ext cx="10858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007F73"/>
                </a:solidFill>
                <a:latin typeface="Arial"/>
                <a:ea typeface="Arial"/>
                <a:cs typeface="Arial"/>
              </a:defRPr>
            </a:pPr>
            <a:r>
              <a:rPr sz="3150" b="1">
                <a:solidFill>
                  <a:srgbClr val="007F73"/>
                </a:solidFill>
                <a:latin typeface="Arial"/>
                <a:ea typeface="Arial"/>
                <a:cs typeface="Arial"/>
              </a:rPr>
              <a:t>Label skew mạnh hơn ảnh hưởng thế nào</a:t>
            </a:r>
          </a:p>
          <a:p xmlns:a="http://schemas.openxmlformats.org/drawingml/2006/main">
            <a:pPr>
              <a:defRPr sz="3150" b="1">
                <a:solidFill>
                  <a:srgbClr val="007F73"/>
                </a:solidFill>
                <a:latin typeface="Arial"/>
                <a:ea typeface="Arial"/>
                <a:cs typeface="Arial"/>
              </a:defRPr>
            </a:pPr>
            <a:r>
              <a:rPr sz="3150" b="1">
                <a:solidFill>
                  <a:srgbClr val="007F73"/>
                </a:solidFill>
                <a:latin typeface="Arial"/>
                <a:ea typeface="Arial"/>
                <a:cs typeface="Arial"/>
              </a:rPr>
              <a:t>đến bộ phân loại ảnh federated?</a:t>
            </a:r>
          </a:p>
        </p:txBody>
      </p:sp>
      <p:sp>
        <p:nvSpPr>
          <p:cNvPr id="4" name="">
            <a:extLst xmlns:a="http://schemas.openxmlformats.org/drawingml/2006/main">
              <a:ext uri="{FF2B5EF4-FFF2-40B4-BE49-F238E27FC236}">
                <a16:creationId xmlns:a16="http://schemas.microsoft.com/office/drawing/2014/main" id="{9F0FA989-2DFF-4DA2-A34E-4E9B3BCA323D}"/>
              </a:ext>
            </a:extLst>
          </p:cNvPr>
          <p:cNvSpPr>
            <a:spLocks xmlns:a="http://schemas.openxmlformats.org/drawingml/2006/main" noGrp="1"/>
          </p:cNvSpPr>
          <p:nvPr/>
        </p:nvSpPr>
        <p:spPr>
          <a:xfrm xmlns:a="http://schemas.openxmlformats.org/drawingml/2006/main">
            <a:off x="609600" y="3619500"/>
            <a:ext cx="108585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27374D"/>
                </a:solidFill>
                <a:latin typeface="Arial"/>
                <a:ea typeface="Arial"/>
                <a:cs typeface="Arial"/>
              </a:defRPr>
            </a:pPr>
            <a:r>
              <a:rPr sz="2250" b="0">
                <a:solidFill>
                  <a:srgbClr val="27374D"/>
                </a:solidFill>
                <a:latin typeface="Arial"/>
                <a:ea typeface="Arial"/>
                <a:cs typeface="Arial"/>
              </a:rPr>
              <a:t>10 client, mỗi client 5.400 ảnh</a:t>
            </a:r>
          </a:p>
          <a:p xmlns:a="http://schemas.openxmlformats.org/drawingml/2006/main">
            <a:pPr>
              <a:defRPr sz="2250" b="0">
                <a:solidFill>
                  <a:srgbClr val="27374D"/>
                </a:solidFill>
                <a:latin typeface="Arial"/>
                <a:ea typeface="Arial"/>
                <a:cs typeface="Arial"/>
              </a:defRPr>
            </a:pPr>
            <a:r>
              <a:rPr sz="2250" b="0">
                <a:solidFill>
                  <a:srgbClr val="27374D"/>
                </a:solidFill>
                <a:latin typeface="Arial"/>
                <a:ea typeface="Arial"/>
                <a:cs typeface="Arial"/>
              </a:rPr>
              <a:t>Một global model, full participation</a:t>
            </a:r>
          </a:p>
          <a:p xmlns:a="http://schemas.openxmlformats.org/drawingml/2006/main">
            <a:pPr>
              <a:defRPr sz="2250" b="0">
                <a:solidFill>
                  <a:srgbClr val="27374D"/>
                </a:solidFill>
                <a:latin typeface="Arial"/>
                <a:ea typeface="Arial"/>
                <a:cs typeface="Arial"/>
              </a:defRPr>
            </a:pPr>
            <a:r>
              <a:rPr sz="2250" b="0">
                <a:solidFill>
                  <a:srgbClr val="27374D"/>
                </a:solidFill>
                <a:latin typeface="Arial"/>
                <a:ea typeface="Arial"/>
                <a:cs typeface="Arial"/>
              </a:rPr>
              <a:t>So sánh với centralized và kiểm tra local epochs</a:t>
            </a:r>
          </a:p>
        </p:txBody>
      </p:sp>
    </p:spTree>
    <p:extLst>
      <p:ext uri="{BB962C8B-B14F-4D97-AF65-F5344CB8AC3E}">
        <p14:creationId xmlns:p14="http://schemas.microsoft.com/office/powerpoint/2010/main" val="13908205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917FD3-8344-4E07-AED5-EC12010AFA36}"/>
              </a:ext>
            </a:extLst>
          </p:cNvPr>
          <p:cNvSpPr>
            <a:spLocks xmlns:a="http://schemas.openxmlformats.org/drawingml/2006/main" noGrp="1"/>
          </p:cNvSpPr>
          <p:nvPr/>
        </p:nvSpPr>
        <p:spPr>
          <a:xfrm xmlns:a="http://schemas.openxmlformats.org/drawingml/2006/main">
            <a:off x="609600" y="3810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7374D"/>
                </a:solidFill>
                <a:latin typeface="Arial"/>
                <a:ea typeface="Arial"/>
                <a:cs typeface="Arial"/>
              </a:defRPr>
            </a:pPr>
            <a:r>
              <a:rPr sz="3300" b="1">
                <a:solidFill>
                  <a:srgbClr val="27374D"/>
                </a:solidFill>
                <a:latin typeface="Arial"/>
                <a:ea typeface="Arial"/>
                <a:cs typeface="Arial"/>
              </a:rPr>
              <a:t>Dữ liệu và protocol đánh giá</a:t>
            </a:r>
          </a:p>
        </p:txBody>
      </p:sp>
      <p:sp>
        <p:nvSpPr>
          <p:cNvPr id="2" name="">
            <a:extLst xmlns:a="http://schemas.openxmlformats.org/drawingml/2006/main">
              <a:ext uri="{FF2B5EF4-FFF2-40B4-BE49-F238E27FC236}">
                <a16:creationId xmlns:a16="http://schemas.microsoft.com/office/drawing/2014/main" id="{04DCAF1C-4755-469C-9797-349162BB33D2}"/>
              </a:ext>
            </a:extLst>
          </p:cNvPr>
          <p:cNvSpPr>
            <a:spLocks xmlns:a="http://schemas.openxmlformats.org/drawingml/2006/main" noGrp="1"/>
          </p:cNvSpPr>
          <p:nvPr/>
        </p:nvSpPr>
        <p:spPr>
          <a:xfrm xmlns:a="http://schemas.openxmlformats.org/drawingml/2006/main">
            <a:off x="11125200" y="62960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82"/>
                </a:solidFill>
                <a:latin typeface="Arial"/>
                <a:ea typeface="Arial"/>
                <a:cs typeface="Arial"/>
              </a:defRPr>
            </a:pPr>
            <a:r>
              <a:rPr sz="1350" b="0">
                <a:solidFill>
                  <a:srgbClr val="687482"/>
                </a:solidFill>
                <a:latin typeface="Arial"/>
                <a:ea typeface="Arial"/>
                <a:cs typeface="Arial"/>
              </a:rPr>
              <a:t>03</a:t>
            </a:r>
          </a:p>
        </p:txBody>
      </p:sp>
      <p:graphicFrame>
        <p:nvGraphicFramePr>
          <p:cNvPr id="7" name=""/>
          <p:cNvGraphicFramePr/>
          <p:nvPr/>
        </p:nvGraphicFramePr>
        <p:xfrm>
          <a:off xmlns:a="http://schemas.openxmlformats.org/drawingml/2006/main" x="609600" y="1562100"/>
          <a:ext xmlns:a="http://schemas.openxmlformats.org/drawingml/2006/main" cx="10972800" cy="2952750"/>
        </p:xfrm>
        <a:graphic xmlns:a="http://schemas.openxmlformats.org/drawingml/2006/main">
          <a:graphicData uri="http://schemas.openxmlformats.org/drawingml/2006/table">
            <a:tbl>
              <a:tblPr/>
              <a:tblGrid>
                <a:gridCol w="3238500"/>
                <a:gridCol w="2190750"/>
                <a:gridCol w="5543550"/>
              </a:tblGrid>
              <a:tr h="738188">
                <a:tc>
                  <a:txBody>
                    <a:bodyPr>
                      <a:noAutofit/>
                    </a:bodyPr>
                    <a:lstStyle/>
                    <a:p>
                      <a:r>
                        <a:rPr sz="1800" b="1">
                          <a:solidFill>
                            <a:srgbClr val="FFFFFF"/>
                          </a:solidFill>
                          <a:latin typeface="Arial"/>
                          <a:ea typeface="Arial"/>
                          <a:cs typeface="Arial"/>
                        </a:rPr>
                        <a:t>Tập dữ liệu</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Số ảnh</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Vai trò</a:t>
                      </a:r>
                    </a:p>
                  </a:txBody>
                  <a:tcPr marL="91440" marR="91440" marT="45720" marB="45720">
                    <a:solidFill>
                      <a:srgbClr val="27374D"/>
                    </a:solidFill>
                  </a:tcPr>
                </a:tc>
              </a:tr>
              <a:tr h="738188">
                <a:tc>
                  <a:txBody>
                    <a:bodyPr>
                      <a:noAutofit/>
                    </a:bodyPr>
                    <a:lstStyle/>
                    <a:p>
                      <a:r>
                        <a:rPr sz="1800" b="0">
                          <a:solidFill>
                            <a:srgbClr val="27374D"/>
                          </a:solidFill>
                          <a:latin typeface="Arial"/>
                          <a:ea typeface="Arial"/>
                          <a:cs typeface="Arial"/>
                        </a:rPr>
                        <a:t>Train</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54.000</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Cập nhật trọng số</a:t>
                      </a:r>
                    </a:p>
                  </a:txBody>
                  <a:tcPr marL="91440" marR="91440" marT="45720" marB="45720">
                    <a:solidFill>
                      <a:srgbClr val="F1F5F6"/>
                    </a:solidFill>
                  </a:tcPr>
                </a:tc>
              </a:tr>
              <a:tr h="738188">
                <a:tc>
                  <a:txBody>
                    <a:bodyPr>
                      <a:noAutofit/>
                    </a:bodyPr>
                    <a:lstStyle/>
                    <a:p>
                      <a:r>
                        <a:rPr sz="1800" b="0">
                          <a:solidFill>
                            <a:srgbClr val="27374D"/>
                          </a:solidFill>
                          <a:latin typeface="Arial"/>
                          <a:ea typeface="Arial"/>
                          <a:cs typeface="Arial"/>
                        </a:rPr>
                        <a:t>Validation</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6.000</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Chọn checkpoint</a:t>
                      </a:r>
                    </a:p>
                  </a:txBody>
                  <a:tcPr marL="91440" marR="91440" marT="45720" marB="45720">
                    <a:solidFill>
                      <a:srgbClr val="FFFFFF"/>
                    </a:solidFill>
                  </a:tcPr>
                </a:tc>
              </a:tr>
              <a:tr h="738188">
                <a:tc>
                  <a:txBody>
                    <a:bodyPr>
                      <a:noAutofit/>
                    </a:bodyPr>
                    <a:lstStyle/>
                    <a:p>
                      <a:r>
                        <a:rPr sz="1800" b="0">
                          <a:solidFill>
                            <a:srgbClr val="27374D"/>
                          </a:solidFill>
                          <a:latin typeface="Arial"/>
                          <a:ea typeface="Arial"/>
                          <a:cs typeface="Arial"/>
                        </a:rPr>
                        <a:t>Official test</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10.000</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Đánh giá sau train</a:t>
                      </a:r>
                    </a:p>
                  </a:txBody>
                  <a:tcPr marL="91440" marR="91440" marT="45720" marB="45720">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A4DBDA28-8398-4B1B-AD29-B78EC0FF1D9C}"/>
              </a:ext>
            </a:extLst>
          </p:cNvPr>
          <p:cNvSpPr>
            <a:spLocks xmlns:a="http://schemas.openxmlformats.org/drawingml/2006/main" noGrp="1"/>
          </p:cNvSpPr>
          <p:nvPr/>
        </p:nvSpPr>
        <p:spPr>
          <a:xfrm xmlns:a="http://schemas.openxmlformats.org/drawingml/2006/main">
            <a:off x="609600" y="4933950"/>
            <a:ext cx="108585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7374D"/>
                </a:solidFill>
                <a:latin typeface="Arial"/>
                <a:ea typeface="Arial"/>
                <a:cs typeface="Arial"/>
              </a:defRPr>
            </a:pPr>
            <a:r>
              <a:rPr sz="2100" b="0">
                <a:solidFill>
                  <a:srgbClr val="27374D"/>
                </a:solidFill>
                <a:latin typeface="Arial"/>
                <a:ea typeface="Arial"/>
                <a:cs typeface="Arial"/>
              </a:rPr>
              <a:t>28×28, 1 kênh, 10 class</a:t>
            </a:r>
          </a:p>
          <a:p xmlns:a="http://schemas.openxmlformats.org/drawingml/2006/main">
            <a:pPr>
              <a:defRPr sz="2100" b="0">
                <a:solidFill>
                  <a:srgbClr val="27374D"/>
                </a:solidFill>
                <a:latin typeface="Arial"/>
                <a:ea typeface="Arial"/>
                <a:cs typeface="Arial"/>
              </a:defRPr>
            </a:pPr>
            <a:r>
              <a:rPr sz="2100" b="0">
                <a:solidFill>
                  <a:srgbClr val="27374D"/>
                </a:solidFill>
                <a:latin typeface="Arial"/>
                <a:ea typeface="Arial"/>
                <a:cs typeface="Arial"/>
              </a:rPr>
              <a:t>Chuẩn hóa (x / 255 − 0,5) / 0,5. Không augmentation.</a:t>
            </a:r>
          </a:p>
        </p:txBody>
      </p:sp>
    </p:spTree>
    <p:extLst>
      <p:ext uri="{BB962C8B-B14F-4D97-AF65-F5344CB8AC3E}">
        <p14:creationId xmlns:p14="http://schemas.microsoft.com/office/powerpoint/2010/main" val="89980591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6CEBB48-10BF-4634-A4AF-ECF67CDE42E3}"/>
              </a:ext>
            </a:extLst>
          </p:cNvPr>
          <p:cNvSpPr>
            <a:spLocks xmlns:a="http://schemas.openxmlformats.org/drawingml/2006/main" noGrp="1"/>
          </p:cNvSpPr>
          <p:nvPr/>
        </p:nvSpPr>
        <p:spPr>
          <a:xfrm xmlns:a="http://schemas.openxmlformats.org/drawingml/2006/main">
            <a:off x="609600" y="3810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7374D"/>
                </a:solidFill>
                <a:latin typeface="Arial"/>
                <a:ea typeface="Arial"/>
                <a:cs typeface="Arial"/>
              </a:defRPr>
            </a:pPr>
            <a:r>
              <a:rPr sz="3300" b="1">
                <a:solidFill>
                  <a:srgbClr val="27374D"/>
                </a:solidFill>
                <a:latin typeface="Arial"/>
                <a:ea typeface="Arial"/>
                <a:cs typeface="Arial"/>
              </a:rPr>
              <a:t>Balanced label skew</a:t>
            </a:r>
          </a:p>
        </p:txBody>
      </p:sp>
      <p:sp>
        <p:nvSpPr>
          <p:cNvPr id="2" name="">
            <a:extLst xmlns:a="http://schemas.openxmlformats.org/drawingml/2006/main">
              <a:ext uri="{FF2B5EF4-FFF2-40B4-BE49-F238E27FC236}">
                <a16:creationId xmlns:a16="http://schemas.microsoft.com/office/drawing/2014/main" id="{9EFE09F4-8A20-44A2-B6DC-3F23F04CE7A2}"/>
              </a:ext>
            </a:extLst>
          </p:cNvPr>
          <p:cNvSpPr>
            <a:spLocks xmlns:a="http://schemas.openxmlformats.org/drawingml/2006/main" noGrp="1"/>
          </p:cNvSpPr>
          <p:nvPr/>
        </p:nvSpPr>
        <p:spPr>
          <a:xfrm xmlns:a="http://schemas.openxmlformats.org/drawingml/2006/main">
            <a:off x="11125200" y="62960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82"/>
                </a:solidFill>
                <a:latin typeface="Arial"/>
                <a:ea typeface="Arial"/>
                <a:cs typeface="Arial"/>
              </a:defRPr>
            </a:pPr>
            <a:r>
              <a:rPr sz="1350" b="0">
                <a:solidFill>
                  <a:srgbClr val="687482"/>
                </a:solidFill>
                <a:latin typeface="Arial"/>
                <a:ea typeface="Arial"/>
                <a:cs typeface="Arial"/>
              </a:rPr>
              <a:t>04</a:t>
            </a:r>
          </a:p>
        </p:txBody>
      </p:sp>
      <p:graphicFrame>
        <p:nvGraphicFramePr>
          <p:cNvPr id="7" name=""/>
          <p:cNvGraphicFramePr/>
          <p:nvPr/>
        </p:nvGraphicFramePr>
        <p:xfrm>
          <a:off xmlns:a="http://schemas.openxmlformats.org/drawingml/2006/main" x="609600" y="1543050"/>
          <a:ext xmlns:a="http://schemas.openxmlformats.org/drawingml/2006/main" cx="10972800" cy="3009900"/>
        </p:xfrm>
        <a:graphic xmlns:a="http://schemas.openxmlformats.org/drawingml/2006/main">
          <a:graphicData uri="http://schemas.openxmlformats.org/drawingml/2006/table">
            <a:tbl>
              <a:tblPr/>
              <a:tblGrid>
                <a:gridCol w="2667000"/>
                <a:gridCol w="1143000"/>
                <a:gridCol w="2571750"/>
                <a:gridCol w="2571750"/>
                <a:gridCol w="2019300"/>
              </a:tblGrid>
              <a:tr h="752475">
                <a:tc>
                  <a:txBody>
                    <a:bodyPr>
                      <a:noAutofit/>
                    </a:bodyPr>
                    <a:lstStyle/>
                    <a:p>
                      <a:r>
                        <a:rPr sz="1800" b="1">
                          <a:solidFill>
                            <a:srgbClr val="FFFFFF"/>
                          </a:solidFill>
                          <a:latin typeface="Arial"/>
                          <a:ea typeface="Arial"/>
                          <a:cs typeface="Arial"/>
                        </a:rPr>
                        <a:t>Setting</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λ</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Class ưu thế</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Class khác</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TV</a:t>
                      </a:r>
                    </a:p>
                  </a:txBody>
                  <a:tcPr marL="91440" marR="91440" marT="45720" marB="45720">
                    <a:solidFill>
                      <a:srgbClr val="27374D"/>
                    </a:solidFill>
                  </a:tcPr>
                </a:tc>
              </a:tr>
              <a:tr h="752475">
                <a:tc>
                  <a:txBody>
                    <a:bodyPr>
                      <a:noAutofit/>
                    </a:bodyPr>
                    <a:lstStyle/>
                    <a:p>
                      <a:r>
                        <a:rPr sz="1800" b="0">
                          <a:solidFill>
                            <a:srgbClr val="27374D"/>
                          </a:solidFill>
                          <a:latin typeface="Arial"/>
                          <a:ea typeface="Arial"/>
                          <a:cs typeface="Arial"/>
                        </a:rPr>
                        <a:t>IID</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0</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540</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540</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0</a:t>
                      </a:r>
                    </a:p>
                  </a:txBody>
                  <a:tcPr marL="91440" marR="91440" marT="45720" marB="45720">
                    <a:solidFill>
                      <a:srgbClr val="F1F5F6"/>
                    </a:solidFill>
                  </a:tcPr>
                </a:tc>
              </a:tr>
              <a:tr h="752475">
                <a:tc>
                  <a:txBody>
                    <a:bodyPr>
                      <a:noAutofit/>
                    </a:bodyPr>
                    <a:lstStyle/>
                    <a:p>
                      <a:r>
                        <a:rPr sz="1800" b="0">
                          <a:solidFill>
                            <a:srgbClr val="27374D"/>
                          </a:solidFill>
                          <a:latin typeface="Arial"/>
                          <a:ea typeface="Arial"/>
                          <a:cs typeface="Arial"/>
                        </a:rPr>
                        <a:t>Mild</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0,5</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1.620</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270</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0,4</a:t>
                      </a:r>
                    </a:p>
                  </a:txBody>
                  <a:tcPr marL="91440" marR="91440" marT="45720" marB="45720">
                    <a:solidFill>
                      <a:srgbClr val="FFFFFF"/>
                    </a:solidFill>
                  </a:tcPr>
                </a:tc>
              </a:tr>
              <a:tr h="752475">
                <a:tc>
                  <a:txBody>
                    <a:bodyPr>
                      <a:noAutofit/>
                    </a:bodyPr>
                    <a:lstStyle/>
                    <a:p>
                      <a:r>
                        <a:rPr sz="1800" b="0">
                          <a:solidFill>
                            <a:srgbClr val="27374D"/>
                          </a:solidFill>
                          <a:latin typeface="Arial"/>
                          <a:ea typeface="Arial"/>
                          <a:cs typeface="Arial"/>
                        </a:rPr>
                        <a:t>Strong</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0,9</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2.484</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54</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0,72</a:t>
                      </a:r>
                    </a:p>
                  </a:txBody>
                  <a:tcPr marL="91440" marR="91440" marT="45720" marB="45720">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F212DDCA-20C2-482B-9E01-0ABE9393B435}"/>
              </a:ext>
            </a:extLst>
          </p:cNvPr>
          <p:cNvSpPr>
            <a:spLocks xmlns:a="http://schemas.openxmlformats.org/drawingml/2006/main" noGrp="1"/>
          </p:cNvSpPr>
          <p:nvPr/>
        </p:nvSpPr>
        <p:spPr>
          <a:xfrm xmlns:a="http://schemas.openxmlformats.org/drawingml/2006/main">
            <a:off x="609600" y="485775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27374D"/>
                </a:solidFill>
                <a:latin typeface="Arial"/>
                <a:ea typeface="Arial"/>
                <a:cs typeface="Arial"/>
              </a:defRPr>
            </a:pPr>
            <a:r>
              <a:rPr sz="2100" b="0">
                <a:solidFill>
                  <a:srgbClr val="27374D"/>
                </a:solidFill>
                <a:latin typeface="Arial"/>
                <a:ea typeface="Arial"/>
                <a:cs typeface="Arial"/>
              </a:rPr>
              <a:t>2 class ưu thế + 8 class còn lại = 5.400 ảnh/client</a:t>
            </a:r>
          </a:p>
          <a:p xmlns:a="http://schemas.openxmlformats.org/drawingml/2006/main">
            <a:pPr>
              <a:defRPr sz="2100" b="0">
                <a:solidFill>
                  <a:srgbClr val="27374D"/>
                </a:solidFill>
                <a:latin typeface="Arial"/>
                <a:ea typeface="Arial"/>
                <a:cs typeface="Arial"/>
              </a:defRPr>
            </a:pPr>
            <a:r>
              <a:rPr sz="2100" b="0">
                <a:solidFill>
                  <a:srgbClr val="27374D"/>
                </a:solidFill>
                <a:latin typeface="Arial"/>
                <a:ea typeface="Arial"/>
                <a:cs typeface="Arial"/>
              </a:rPr>
              <a:t>Shuffle theo seed, không replacement, kiểm tra đủ và không lặp index.</a:t>
            </a:r>
          </a:p>
        </p:txBody>
      </p:sp>
    </p:spTree>
    <p:extLst>
      <p:ext uri="{BB962C8B-B14F-4D97-AF65-F5344CB8AC3E}">
        <p14:creationId xmlns:p14="http://schemas.microsoft.com/office/powerpoint/2010/main" val="16563568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92660B9-0B41-4D88-B4DD-2AC2CE54AABD}"/>
              </a:ext>
            </a:extLst>
          </p:cNvPr>
          <p:cNvSpPr>
            <a:spLocks xmlns:a="http://schemas.openxmlformats.org/drawingml/2006/main" noGrp="1"/>
          </p:cNvSpPr>
          <p:nvPr/>
        </p:nvSpPr>
        <p:spPr>
          <a:xfrm xmlns:a="http://schemas.openxmlformats.org/drawingml/2006/main">
            <a:off x="609600" y="3810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7374D"/>
                </a:solidFill>
                <a:latin typeface="Arial"/>
                <a:ea typeface="Arial"/>
                <a:cs typeface="Arial"/>
              </a:defRPr>
            </a:pPr>
            <a:r>
              <a:rPr sz="3300" b="1">
                <a:solidFill>
                  <a:srgbClr val="27374D"/>
                </a:solidFill>
                <a:latin typeface="Arial"/>
                <a:ea typeface="Arial"/>
                <a:cs typeface="Arial"/>
              </a:rPr>
              <a:t>Small CNN: 105.866 tham số</a:t>
            </a:r>
          </a:p>
        </p:txBody>
      </p:sp>
      <p:sp>
        <p:nvSpPr>
          <p:cNvPr id="2" name="">
            <a:extLst xmlns:a="http://schemas.openxmlformats.org/drawingml/2006/main">
              <a:ext uri="{FF2B5EF4-FFF2-40B4-BE49-F238E27FC236}">
                <a16:creationId xmlns:a16="http://schemas.microsoft.com/office/drawing/2014/main" id="{4E5498C9-0BD3-4B2E-909C-5D583B5E7431}"/>
              </a:ext>
            </a:extLst>
          </p:cNvPr>
          <p:cNvSpPr>
            <a:spLocks xmlns:a="http://schemas.openxmlformats.org/drawingml/2006/main" noGrp="1"/>
          </p:cNvSpPr>
          <p:nvPr/>
        </p:nvSpPr>
        <p:spPr>
          <a:xfrm xmlns:a="http://schemas.openxmlformats.org/drawingml/2006/main">
            <a:off x="11125200" y="62960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82"/>
                </a:solidFill>
                <a:latin typeface="Arial"/>
                <a:ea typeface="Arial"/>
                <a:cs typeface="Arial"/>
              </a:defRPr>
            </a:pPr>
            <a:r>
              <a:rPr sz="1350" b="0">
                <a:solidFill>
                  <a:srgbClr val="687482"/>
                </a:solidFill>
                <a:latin typeface="Arial"/>
                <a:ea typeface="Arial"/>
                <a:cs typeface="Arial"/>
              </a:rPr>
              <a:t>05</a:t>
            </a:r>
          </a:p>
        </p:txBody>
      </p:sp>
      <p:graphicFrame>
        <p:nvGraphicFramePr>
          <p:cNvPr id="7" name=""/>
          <p:cNvGraphicFramePr/>
          <p:nvPr/>
        </p:nvGraphicFramePr>
        <p:xfrm>
          <a:off xmlns:a="http://schemas.openxmlformats.org/drawingml/2006/main" x="609600" y="1504950"/>
          <a:ext xmlns:a="http://schemas.openxmlformats.org/drawingml/2006/main" cx="7143750" cy="4095750"/>
        </p:xfrm>
        <a:graphic xmlns:a="http://schemas.openxmlformats.org/drawingml/2006/main">
          <a:graphicData uri="http://schemas.openxmlformats.org/drawingml/2006/table">
            <a:tbl>
              <a:tblPr/>
              <a:tblGrid>
                <a:gridCol w="4762500"/>
                <a:gridCol w="2381250"/>
              </a:tblGrid>
              <a:tr h="682625">
                <a:tc>
                  <a:txBody>
                    <a:bodyPr>
                      <a:noAutofit/>
                    </a:bodyPr>
                    <a:lstStyle/>
                    <a:p>
                      <a:r>
                        <a:rPr sz="1800" b="1">
                          <a:solidFill>
                            <a:srgbClr val="FFFFFF"/>
                          </a:solidFill>
                          <a:latin typeface="Arial"/>
                          <a:ea typeface="Arial"/>
                          <a:cs typeface="Arial"/>
                        </a:rPr>
                        <a:t>Layer</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Output</a:t>
                      </a:r>
                    </a:p>
                  </a:txBody>
                  <a:tcPr marL="91440" marR="91440" marT="45720" marB="45720">
                    <a:solidFill>
                      <a:srgbClr val="27374D"/>
                    </a:solidFill>
                  </a:tcPr>
                </a:tc>
              </a:tr>
              <a:tr h="682625">
                <a:tc>
                  <a:txBody>
                    <a:bodyPr>
                      <a:noAutofit/>
                    </a:bodyPr>
                    <a:lstStyle/>
                    <a:p>
                      <a:r>
                        <a:rPr sz="1800" b="0">
                          <a:solidFill>
                            <a:srgbClr val="27374D"/>
                          </a:solidFill>
                          <a:latin typeface="Arial"/>
                          <a:ea typeface="Arial"/>
                          <a:cs typeface="Arial"/>
                        </a:rPr>
                        <a:t>Conv 1→16, ReLU, MaxPool</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16×14×14</a:t>
                      </a:r>
                    </a:p>
                  </a:txBody>
                  <a:tcPr marL="91440" marR="91440" marT="45720" marB="45720">
                    <a:solidFill>
                      <a:srgbClr val="F1F5F6"/>
                    </a:solidFill>
                  </a:tcPr>
                </a:tc>
              </a:tr>
              <a:tr h="682625">
                <a:tc>
                  <a:txBody>
                    <a:bodyPr>
                      <a:noAutofit/>
                    </a:bodyPr>
                    <a:lstStyle/>
                    <a:p>
                      <a:r>
                        <a:rPr sz="1800" b="0">
                          <a:solidFill>
                            <a:srgbClr val="27374D"/>
                          </a:solidFill>
                          <a:latin typeface="Arial"/>
                          <a:ea typeface="Arial"/>
                          <a:cs typeface="Arial"/>
                        </a:rPr>
                        <a:t>Conv 16→32, ReLU, MaxPool</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32×7×7</a:t>
                      </a:r>
                    </a:p>
                  </a:txBody>
                  <a:tcPr marL="91440" marR="91440" marT="45720" marB="45720">
                    <a:solidFill>
                      <a:srgbClr val="FFFFFF"/>
                    </a:solidFill>
                  </a:tcPr>
                </a:tc>
              </a:tr>
              <a:tr h="682625">
                <a:tc>
                  <a:txBody>
                    <a:bodyPr>
                      <a:noAutofit/>
                    </a:bodyPr>
                    <a:lstStyle/>
                    <a:p>
                      <a:r>
                        <a:rPr sz="1800" b="0">
                          <a:solidFill>
                            <a:srgbClr val="27374D"/>
                          </a:solidFill>
                          <a:latin typeface="Arial"/>
                          <a:ea typeface="Arial"/>
                          <a:cs typeface="Arial"/>
                        </a:rPr>
                        <a:t>Flatten</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1.568</a:t>
                      </a:r>
                    </a:p>
                  </a:txBody>
                  <a:tcPr marL="91440" marR="91440" marT="45720" marB="45720">
                    <a:solidFill>
                      <a:srgbClr val="F1F5F6"/>
                    </a:solidFill>
                  </a:tcPr>
                </a:tc>
              </a:tr>
              <a:tr h="682625">
                <a:tc>
                  <a:txBody>
                    <a:bodyPr>
                      <a:noAutofit/>
                    </a:bodyPr>
                    <a:lstStyle/>
                    <a:p>
                      <a:r>
                        <a:rPr sz="1800" b="0">
                          <a:solidFill>
                            <a:srgbClr val="27374D"/>
                          </a:solidFill>
                          <a:latin typeface="Arial"/>
                          <a:ea typeface="Arial"/>
                          <a:cs typeface="Arial"/>
                        </a:rPr>
                        <a:t>Linear + ReLU</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64</a:t>
                      </a:r>
                    </a:p>
                  </a:txBody>
                  <a:tcPr marL="91440" marR="91440" marT="45720" marB="45720">
                    <a:solidFill>
                      <a:srgbClr val="FFFFFF"/>
                    </a:solidFill>
                  </a:tcPr>
                </a:tc>
              </a:tr>
              <a:tr h="682625">
                <a:tc>
                  <a:txBody>
                    <a:bodyPr>
                      <a:noAutofit/>
                    </a:bodyPr>
                    <a:lstStyle/>
                    <a:p>
                      <a:r>
                        <a:rPr sz="1800" b="0">
                          <a:solidFill>
                            <a:srgbClr val="27374D"/>
                          </a:solidFill>
                          <a:latin typeface="Arial"/>
                          <a:ea typeface="Arial"/>
                          <a:cs typeface="Arial"/>
                        </a:rPr>
                        <a:t>Linear</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10 logits</a:t>
                      </a:r>
                    </a:p>
                  </a:txBody>
                  <a:tcPr marL="91440" marR="91440" marT="45720" marB="45720">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18D911D9-CDD1-4082-8D55-517D0C25A47F}"/>
              </a:ext>
            </a:extLst>
          </p:cNvPr>
          <p:cNvSpPr>
            <a:spLocks xmlns:a="http://schemas.openxmlformats.org/drawingml/2006/main" noGrp="1"/>
          </p:cNvSpPr>
          <p:nvPr/>
        </p:nvSpPr>
        <p:spPr>
          <a:xfrm xmlns:a="http://schemas.openxmlformats.org/drawingml/2006/main">
            <a:off x="8248650" y="2000250"/>
            <a:ext cx="3143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007F73"/>
                </a:solidFill>
                <a:latin typeface="Arial"/>
                <a:ea typeface="Arial"/>
                <a:cs typeface="Arial"/>
              </a:defRPr>
            </a:pPr>
            <a:r>
              <a:rPr sz="2250" b="0">
                <a:solidFill>
                  <a:srgbClr val="007F73"/>
                </a:solidFill>
                <a:latin typeface="Arial"/>
                <a:ea typeface="Arial"/>
                <a:cs typeface="Arial"/>
              </a:rPr>
              <a:t>SGD lr=0,01</a:t>
            </a:r>
          </a:p>
          <a:p xmlns:a="http://schemas.openxmlformats.org/drawingml/2006/main">
            <a:pPr>
              <a:defRPr sz="2250" b="0">
                <a:solidFill>
                  <a:srgbClr val="007F73"/>
                </a:solidFill>
                <a:latin typeface="Arial"/>
                <a:ea typeface="Arial"/>
                <a:cs typeface="Arial"/>
              </a:defRPr>
            </a:pPr>
            <a:r>
              <a:rPr sz="2250" b="0">
                <a:solidFill>
                  <a:srgbClr val="007F73"/>
                </a:solidFill>
                <a:latin typeface="Arial"/>
                <a:ea typeface="Arial"/>
                <a:cs typeface="Arial"/>
              </a:rPr>
              <a:t>Batch size=64</a:t>
            </a:r>
          </a:p>
          <a:p xmlns:a="http://schemas.openxmlformats.org/drawingml/2006/main">
            <a:pPr>
              <a:defRPr sz="2250" b="0">
                <a:solidFill>
                  <a:srgbClr val="007F73"/>
                </a:solidFill>
                <a:latin typeface="Arial"/>
                <a:ea typeface="Arial"/>
                <a:cs typeface="Arial"/>
              </a:defRPr>
            </a:pPr>
            <a:r>
              <a:rPr sz="2250" b="0">
                <a:solidFill>
                  <a:srgbClr val="007F73"/>
                </a:solidFill>
                <a:latin typeface="Arial"/>
                <a:ea typeface="Arial"/>
                <a:cs typeface="Arial"/>
              </a:rPr>
              <a:t>Momentum=0</a:t>
            </a:r>
          </a:p>
          <a:p xmlns:a="http://schemas.openxmlformats.org/drawingml/2006/main">
            <a:pPr>
              <a:defRPr sz="2250" b="0">
                <a:solidFill>
                  <a:srgbClr val="007F73"/>
                </a:solidFill>
                <a:latin typeface="Arial"/>
                <a:ea typeface="Arial"/>
                <a:cs typeface="Arial"/>
              </a:defRPr>
            </a:pPr>
            <a:r>
              <a:rPr sz="2250" b="0">
                <a:solidFill>
                  <a:srgbClr val="007F73"/>
                </a:solidFill>
                <a:latin typeface="Arial"/>
                <a:ea typeface="Arial"/>
                <a:cs typeface="Arial"/>
              </a:rPr>
              <a:t>Cross entropy</a:t>
            </a:r>
          </a:p>
        </p:txBody>
      </p:sp>
    </p:spTree>
    <p:extLst>
      <p:ext uri="{BB962C8B-B14F-4D97-AF65-F5344CB8AC3E}">
        <p14:creationId xmlns:p14="http://schemas.microsoft.com/office/powerpoint/2010/main" val="18847394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FDF367F-A2A2-43CB-BA1B-56998A725BE7}"/>
              </a:ext>
            </a:extLst>
          </p:cNvPr>
          <p:cNvSpPr>
            <a:spLocks xmlns:a="http://schemas.openxmlformats.org/drawingml/2006/main" noGrp="1"/>
          </p:cNvSpPr>
          <p:nvPr/>
        </p:nvSpPr>
        <p:spPr>
          <a:xfrm xmlns:a="http://schemas.openxmlformats.org/drawingml/2006/main">
            <a:off x="609600" y="3810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7374D"/>
                </a:solidFill>
                <a:latin typeface="Arial"/>
                <a:ea typeface="Arial"/>
                <a:cs typeface="Arial"/>
              </a:defRPr>
            </a:pPr>
            <a:r>
              <a:rPr sz="3300" b="1">
                <a:solidFill>
                  <a:srgbClr val="27374D"/>
                </a:solidFill>
                <a:latin typeface="Arial"/>
                <a:ea typeface="Arial"/>
                <a:cs typeface="Arial"/>
              </a:rPr>
              <a:t>Một round FedAvg</a:t>
            </a:r>
          </a:p>
        </p:txBody>
      </p:sp>
      <p:sp>
        <p:nvSpPr>
          <p:cNvPr id="2" name="">
            <a:extLst xmlns:a="http://schemas.openxmlformats.org/drawingml/2006/main">
              <a:ext uri="{FF2B5EF4-FFF2-40B4-BE49-F238E27FC236}">
                <a16:creationId xmlns:a16="http://schemas.microsoft.com/office/drawing/2014/main" id="{690050B1-1B32-4040-B28F-F4A231A8B367}"/>
              </a:ext>
            </a:extLst>
          </p:cNvPr>
          <p:cNvSpPr>
            <a:spLocks xmlns:a="http://schemas.openxmlformats.org/drawingml/2006/main" noGrp="1"/>
          </p:cNvSpPr>
          <p:nvPr/>
        </p:nvSpPr>
        <p:spPr>
          <a:xfrm xmlns:a="http://schemas.openxmlformats.org/drawingml/2006/main">
            <a:off x="11125200" y="62960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82"/>
                </a:solidFill>
                <a:latin typeface="Arial"/>
                <a:ea typeface="Arial"/>
                <a:cs typeface="Arial"/>
              </a:defRPr>
            </a:pPr>
            <a:r>
              <a:rPr sz="1350" b="0">
                <a:solidFill>
                  <a:srgbClr val="687482"/>
                </a:solidFill>
                <a:latin typeface="Arial"/>
                <a:ea typeface="Arial"/>
                <a:cs typeface="Arial"/>
              </a:rPr>
              <a:t>06</a:t>
            </a:r>
          </a:p>
        </p:txBody>
      </p:sp>
      <p:sp>
        <p:nvSpPr>
          <p:cNvPr id="3" name="">
            <a:extLst xmlns:a="http://schemas.openxmlformats.org/drawingml/2006/main">
              <a:ext uri="{FF2B5EF4-FFF2-40B4-BE49-F238E27FC236}">
                <a16:creationId xmlns:a16="http://schemas.microsoft.com/office/drawing/2014/main" id="{F68AF14C-3C5A-478B-9922-1F531DEA12BD}"/>
              </a:ext>
            </a:extLst>
          </p:cNvPr>
          <p:cNvSpPr>
            <a:spLocks xmlns:a="http://schemas.openxmlformats.org/drawingml/2006/main" noGrp="1"/>
          </p:cNvSpPr>
          <p:nvPr/>
        </p:nvSpPr>
        <p:spPr>
          <a:xfrm xmlns:a="http://schemas.openxmlformats.org/drawingml/2006/main">
            <a:off x="609600" y="148590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07F73"/>
                </a:solidFill>
                <a:latin typeface="Arial"/>
                <a:ea typeface="Arial"/>
                <a:cs typeface="Arial"/>
              </a:defRPr>
            </a:pPr>
            <a:r>
              <a:rPr sz="3225" b="1">
                <a:solidFill>
                  <a:srgbClr val="007F73"/>
                </a:solidFill>
                <a:latin typeface="Arial"/>
                <a:ea typeface="Arial"/>
                <a:cs typeface="Arial"/>
              </a:rPr>
              <a:t>w_next = Σ (n_k / N) × w_k</a:t>
            </a:r>
          </a:p>
        </p:txBody>
      </p:sp>
      <p:graphicFrame>
        <p:nvGraphicFramePr>
          <p:cNvPr id="8" name=""/>
          <p:cNvGraphicFramePr/>
          <p:nvPr/>
        </p:nvGraphicFramePr>
        <p:xfrm>
          <a:off xmlns:a="http://schemas.openxmlformats.org/drawingml/2006/main" x="609600" y="2514600"/>
          <a:ext xmlns:a="http://schemas.openxmlformats.org/drawingml/2006/main" cx="10972800" cy="3114675"/>
        </p:xfrm>
        <a:graphic xmlns:a="http://schemas.openxmlformats.org/drawingml/2006/main">
          <a:graphicData uri="http://schemas.openxmlformats.org/drawingml/2006/table">
            <a:tbl>
              <a:tblPr/>
              <a:tblGrid>
                <a:gridCol w="1428750"/>
                <a:gridCol w="9544050"/>
              </a:tblGrid>
              <a:tr h="622935">
                <a:tc>
                  <a:txBody>
                    <a:bodyPr>
                      <a:noAutofit/>
                    </a:bodyPr>
                    <a:lstStyle/>
                    <a:p>
                      <a:r>
                        <a:rPr sz="1800" b="1">
                          <a:solidFill>
                            <a:srgbClr val="FFFFFF"/>
                          </a:solidFill>
                          <a:latin typeface="Arial"/>
                          <a:ea typeface="Arial"/>
                          <a:cs typeface="Arial"/>
                        </a:rPr>
                        <a:t>Bước</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Thao tác</a:t>
                      </a:r>
                    </a:p>
                  </a:txBody>
                  <a:tcPr marL="91440" marR="91440" marT="45720" marB="45720">
                    <a:solidFill>
                      <a:srgbClr val="27374D"/>
                    </a:solidFill>
                  </a:tcPr>
                </a:tc>
              </a:tr>
              <a:tr h="622935">
                <a:tc>
                  <a:txBody>
                    <a:bodyPr>
                      <a:noAutofit/>
                    </a:bodyPr>
                    <a:lstStyle/>
                    <a:p>
                      <a:r>
                        <a:rPr sz="1800" b="0">
                          <a:solidFill>
                            <a:srgbClr val="27374D"/>
                          </a:solidFill>
                          <a:latin typeface="Arial"/>
                          <a:ea typeface="Arial"/>
                          <a:cs typeface="Arial"/>
                        </a:rPr>
                        <a:t>1</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Broadcast cùng global snapshot đến mọi client</a:t>
                      </a:r>
                    </a:p>
                  </a:txBody>
                  <a:tcPr marL="91440" marR="91440" marT="45720" marB="45720">
                    <a:solidFill>
                      <a:srgbClr val="F1F5F6"/>
                    </a:solidFill>
                  </a:tcPr>
                </a:tc>
              </a:tr>
              <a:tr h="622935">
                <a:tc>
                  <a:txBody>
                    <a:bodyPr>
                      <a:noAutofit/>
                    </a:bodyPr>
                    <a:lstStyle/>
                    <a:p>
                      <a:r>
                        <a:rPr sz="1800" b="0">
                          <a:solidFill>
                            <a:srgbClr val="27374D"/>
                          </a:solidFill>
                          <a:latin typeface="Arial"/>
                          <a:ea typeface="Arial"/>
                          <a:cs typeface="Arial"/>
                        </a:rPr>
                        <a:t>2</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Train local E epoch trên dữ liệu của client</a:t>
                      </a:r>
                    </a:p>
                  </a:txBody>
                  <a:tcPr marL="91440" marR="91440" marT="45720" marB="45720">
                    <a:solidFill>
                      <a:srgbClr val="FFFFFF"/>
                    </a:solidFill>
                  </a:tcPr>
                </a:tc>
              </a:tr>
              <a:tr h="622935">
                <a:tc>
                  <a:txBody>
                    <a:bodyPr>
                      <a:noAutofit/>
                    </a:bodyPr>
                    <a:lstStyle/>
                    <a:p>
                      <a:r>
                        <a:rPr sz="1800" b="0">
                          <a:solidFill>
                            <a:srgbClr val="27374D"/>
                          </a:solidFill>
                          <a:latin typeface="Arial"/>
                          <a:ea typeface="Arial"/>
                          <a:cs typeface="Arial"/>
                        </a:rPr>
                        <a:t>3</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Nhận state dict và số mẫu n_k</a:t>
                      </a:r>
                    </a:p>
                  </a:txBody>
                  <a:tcPr marL="91440" marR="91440" marT="45720" marB="45720">
                    <a:solidFill>
                      <a:srgbClr val="F1F5F6"/>
                    </a:solidFill>
                  </a:tcPr>
                </a:tc>
              </a:tr>
              <a:tr h="622935">
                <a:tc>
                  <a:txBody>
                    <a:bodyPr>
                      <a:noAutofit/>
                    </a:bodyPr>
                    <a:lstStyle/>
                    <a:p>
                      <a:r>
                        <a:rPr sz="1800" b="0">
                          <a:solidFill>
                            <a:srgbClr val="27374D"/>
                          </a:solidFill>
                          <a:latin typeface="Arial"/>
                          <a:ea typeface="Arial"/>
                          <a:cs typeface="Arial"/>
                        </a:rPr>
                        <a:t>4</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Weighted average, đánh giá global validation</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20856250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E8FD9F1-880A-451E-B57E-BC9E74085370}"/>
              </a:ext>
            </a:extLst>
          </p:cNvPr>
          <p:cNvSpPr>
            <a:spLocks xmlns:a="http://schemas.openxmlformats.org/drawingml/2006/main" noGrp="1"/>
          </p:cNvSpPr>
          <p:nvPr/>
        </p:nvSpPr>
        <p:spPr>
          <a:xfrm xmlns:a="http://schemas.openxmlformats.org/drawingml/2006/main">
            <a:off x="609600" y="3810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7374D"/>
                </a:solidFill>
                <a:latin typeface="Arial"/>
                <a:ea typeface="Arial"/>
                <a:cs typeface="Arial"/>
              </a:defRPr>
            </a:pPr>
            <a:r>
              <a:rPr sz="3300" b="1">
                <a:solidFill>
                  <a:srgbClr val="27374D"/>
                </a:solidFill>
                <a:latin typeface="Arial"/>
                <a:ea typeface="Arial"/>
                <a:cs typeface="Arial"/>
              </a:rPr>
              <a:t>15 runs, cùng ngân sách xử lý ảnh</a:t>
            </a:r>
          </a:p>
        </p:txBody>
      </p:sp>
      <p:sp>
        <p:nvSpPr>
          <p:cNvPr id="2" name="">
            <a:extLst xmlns:a="http://schemas.openxmlformats.org/drawingml/2006/main">
              <a:ext uri="{FF2B5EF4-FFF2-40B4-BE49-F238E27FC236}">
                <a16:creationId xmlns:a16="http://schemas.microsoft.com/office/drawing/2014/main" id="{25824ED2-EEB7-4485-8D8D-7F613B489CED}"/>
              </a:ext>
            </a:extLst>
          </p:cNvPr>
          <p:cNvSpPr>
            <a:spLocks xmlns:a="http://schemas.openxmlformats.org/drawingml/2006/main" noGrp="1"/>
          </p:cNvSpPr>
          <p:nvPr/>
        </p:nvSpPr>
        <p:spPr>
          <a:xfrm xmlns:a="http://schemas.openxmlformats.org/drawingml/2006/main">
            <a:off x="11125200" y="62960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82"/>
                </a:solidFill>
                <a:latin typeface="Arial"/>
                <a:ea typeface="Arial"/>
                <a:cs typeface="Arial"/>
              </a:defRPr>
            </a:pPr>
            <a:r>
              <a:rPr sz="1350" b="0">
                <a:solidFill>
                  <a:srgbClr val="687482"/>
                </a:solidFill>
                <a:latin typeface="Arial"/>
                <a:ea typeface="Arial"/>
                <a:cs typeface="Arial"/>
              </a:rPr>
              <a:t>07</a:t>
            </a:r>
          </a:p>
        </p:txBody>
      </p:sp>
      <p:graphicFrame>
        <p:nvGraphicFramePr>
          <p:cNvPr id="7" name=""/>
          <p:cNvGraphicFramePr/>
          <p:nvPr/>
        </p:nvGraphicFramePr>
        <p:xfrm>
          <a:off xmlns:a="http://schemas.openxmlformats.org/drawingml/2006/main" x="609600" y="1504950"/>
          <a:ext xmlns:a="http://schemas.openxmlformats.org/drawingml/2006/main" cx="10972800" cy="3762375"/>
        </p:xfrm>
        <a:graphic xmlns:a="http://schemas.openxmlformats.org/drawingml/2006/main">
          <a:graphicData uri="http://schemas.openxmlformats.org/drawingml/2006/table">
            <a:tbl>
              <a:tblPr/>
              <a:tblGrid>
                <a:gridCol w="2952750"/>
                <a:gridCol w="1238250"/>
                <a:gridCol w="1047750"/>
                <a:gridCol w="2952750"/>
                <a:gridCol w="2781300"/>
              </a:tblGrid>
              <a:tr h="627063">
                <a:tc>
                  <a:txBody>
                    <a:bodyPr>
                      <a:noAutofit/>
                    </a:bodyPr>
                    <a:lstStyle/>
                    <a:p>
                      <a:r>
                        <a:rPr sz="1800" b="1">
                          <a:solidFill>
                            <a:srgbClr val="FFFFFF"/>
                          </a:solidFill>
                          <a:latin typeface="Arial"/>
                          <a:ea typeface="Arial"/>
                          <a:cs typeface="Arial"/>
                        </a:rPr>
                        <a:t>Cấu hình</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λ</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E</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R/epochs</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Lượt pool</a:t>
                      </a:r>
                    </a:p>
                  </a:txBody>
                  <a:tcPr marL="91440" marR="91440" marT="45720" marB="45720">
                    <a:solidFill>
                      <a:srgbClr val="27374D"/>
                    </a:solidFill>
                  </a:tcPr>
                </a:tc>
              </a:tr>
              <a:tr h="627063">
                <a:tc>
                  <a:txBody>
                    <a:bodyPr>
                      <a:noAutofit/>
                    </a:bodyPr>
                    <a:lstStyle/>
                    <a:p>
                      <a:r>
                        <a:rPr sz="1800" b="0">
                          <a:solidFill>
                            <a:srgbClr val="27374D"/>
                          </a:solidFill>
                          <a:latin typeface="Arial"/>
                          <a:ea typeface="Arial"/>
                          <a:cs typeface="Arial"/>
                        </a:rPr>
                        <a:t>Centralized</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1</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30 epochs</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30</a:t>
                      </a:r>
                    </a:p>
                  </a:txBody>
                  <a:tcPr marL="91440" marR="91440" marT="45720" marB="45720">
                    <a:solidFill>
                      <a:srgbClr val="F1F5F6"/>
                    </a:solidFill>
                  </a:tcPr>
                </a:tc>
              </a:tr>
              <a:tr h="627063">
                <a:tc>
                  <a:txBody>
                    <a:bodyPr>
                      <a:noAutofit/>
                    </a:bodyPr>
                    <a:lstStyle/>
                    <a:p>
                      <a:r>
                        <a:rPr sz="1800" b="0">
                          <a:solidFill>
                            <a:srgbClr val="27374D"/>
                          </a:solidFill>
                          <a:latin typeface="Arial"/>
                          <a:ea typeface="Arial"/>
                          <a:cs typeface="Arial"/>
                        </a:rPr>
                        <a:t>IID</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0</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1</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30 rounds</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30</a:t>
                      </a:r>
                    </a:p>
                  </a:txBody>
                  <a:tcPr marL="91440" marR="91440" marT="45720" marB="45720">
                    <a:solidFill>
                      <a:srgbClr val="FFFFFF"/>
                    </a:solidFill>
                  </a:tcPr>
                </a:tc>
              </a:tr>
              <a:tr h="627063">
                <a:tc>
                  <a:txBody>
                    <a:bodyPr>
                      <a:noAutofit/>
                    </a:bodyPr>
                    <a:lstStyle/>
                    <a:p>
                      <a:r>
                        <a:rPr sz="1800" b="0">
                          <a:solidFill>
                            <a:srgbClr val="27374D"/>
                          </a:solidFill>
                          <a:latin typeface="Arial"/>
                          <a:ea typeface="Arial"/>
                          <a:cs typeface="Arial"/>
                        </a:rPr>
                        <a:t>Mild</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0,5</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1</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30 rounds</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30</a:t>
                      </a:r>
                    </a:p>
                  </a:txBody>
                  <a:tcPr marL="91440" marR="91440" marT="45720" marB="45720">
                    <a:solidFill>
                      <a:srgbClr val="F1F5F6"/>
                    </a:solidFill>
                  </a:tcPr>
                </a:tc>
              </a:tr>
              <a:tr h="627063">
                <a:tc>
                  <a:txBody>
                    <a:bodyPr>
                      <a:noAutofit/>
                    </a:bodyPr>
                    <a:lstStyle/>
                    <a:p>
                      <a:r>
                        <a:rPr sz="1800" b="0">
                          <a:solidFill>
                            <a:srgbClr val="27374D"/>
                          </a:solidFill>
                          <a:latin typeface="Arial"/>
                          <a:ea typeface="Arial"/>
                          <a:cs typeface="Arial"/>
                        </a:rPr>
                        <a:t>Strong</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0,9</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1</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30 rounds</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30</a:t>
                      </a:r>
                    </a:p>
                  </a:txBody>
                  <a:tcPr marL="91440" marR="91440" marT="45720" marB="45720">
                    <a:solidFill>
                      <a:srgbClr val="FFFFFF"/>
                    </a:solidFill>
                  </a:tcPr>
                </a:tc>
              </a:tr>
              <a:tr h="627063">
                <a:tc>
                  <a:txBody>
                    <a:bodyPr>
                      <a:noAutofit/>
                    </a:bodyPr>
                    <a:lstStyle/>
                    <a:p>
                      <a:r>
                        <a:rPr sz="1800" b="0">
                          <a:solidFill>
                            <a:srgbClr val="27374D"/>
                          </a:solidFill>
                          <a:latin typeface="Arial"/>
                          <a:ea typeface="Arial"/>
                          <a:cs typeface="Arial"/>
                        </a:rPr>
                        <a:t>Strong E3</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0,9</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3</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10 rounds</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30</a:t>
                      </a:r>
                    </a:p>
                  </a:txBody>
                  <a:tcPr marL="91440" marR="91440" marT="45720" marB="45720">
                    <a:solidFill>
                      <a:srgbClr val="F1F5F6"/>
                    </a:solidFill>
                  </a:tcPr>
                </a:tc>
              </a:tr>
            </a:tbl>
          </a:graphicData>
        </a:graphic>
      </p:graphicFrame>
      <p:sp>
        <p:nvSpPr>
          <p:cNvPr id="4" name="">
            <a:extLst xmlns:a="http://schemas.openxmlformats.org/drawingml/2006/main">
              <a:ext uri="{FF2B5EF4-FFF2-40B4-BE49-F238E27FC236}">
                <a16:creationId xmlns:a16="http://schemas.microsoft.com/office/drawing/2014/main" id="{FBF9CFA9-F915-4D5D-9593-8721B3DD8D65}"/>
              </a:ext>
            </a:extLst>
          </p:cNvPr>
          <p:cNvSpPr>
            <a:spLocks xmlns:a="http://schemas.openxmlformats.org/drawingml/2006/main" noGrp="1"/>
          </p:cNvSpPr>
          <p:nvPr/>
        </p:nvSpPr>
        <p:spPr>
          <a:xfrm xmlns:a="http://schemas.openxmlformats.org/drawingml/2006/main">
            <a:off x="609600" y="5581650"/>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7374D"/>
                </a:solidFill>
                <a:latin typeface="Arial"/>
                <a:ea typeface="Arial"/>
                <a:cs typeface="Arial"/>
              </a:defRPr>
            </a:pPr>
            <a:r>
              <a:rPr sz="1950" b="0">
                <a:solidFill>
                  <a:srgbClr val="27374D"/>
                </a:solidFill>
                <a:latin typeface="Arial"/>
                <a:ea typeface="Arial"/>
                <a:cs typeface="Arial"/>
              </a:rPr>
              <a:t>Seeds 42, 43, 44. Split seed 2026. Cùng CNN, SGD và train pool.</a:t>
            </a:r>
          </a:p>
        </p:txBody>
      </p:sp>
    </p:spTree>
    <p:extLst>
      <p:ext uri="{BB962C8B-B14F-4D97-AF65-F5344CB8AC3E}">
        <p14:creationId xmlns:p14="http://schemas.microsoft.com/office/powerpoint/2010/main" val="25104410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E1CCD35-2129-41E2-A3B5-2C1AB3EFFF7C}"/>
              </a:ext>
            </a:extLst>
          </p:cNvPr>
          <p:cNvSpPr>
            <a:spLocks xmlns:a="http://schemas.openxmlformats.org/drawingml/2006/main" noGrp="1"/>
          </p:cNvSpPr>
          <p:nvPr/>
        </p:nvSpPr>
        <p:spPr>
          <a:xfrm xmlns:a="http://schemas.openxmlformats.org/drawingml/2006/main">
            <a:off x="609600" y="3810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7374D"/>
                </a:solidFill>
                <a:latin typeface="Arial"/>
                <a:ea typeface="Arial"/>
                <a:cs typeface="Arial"/>
              </a:defRPr>
            </a:pPr>
            <a:r>
              <a:rPr sz="3300" b="1">
                <a:solidFill>
                  <a:srgbClr val="27374D"/>
                </a:solidFill>
                <a:latin typeface="Arial"/>
                <a:ea typeface="Arial"/>
                <a:cs typeface="Arial"/>
              </a:rPr>
              <a:t>Kết quả cuối ngân sách</a:t>
            </a:r>
          </a:p>
        </p:txBody>
      </p:sp>
      <p:sp>
        <p:nvSpPr>
          <p:cNvPr id="2" name="">
            <a:extLst xmlns:a="http://schemas.openxmlformats.org/drawingml/2006/main">
              <a:ext uri="{FF2B5EF4-FFF2-40B4-BE49-F238E27FC236}">
                <a16:creationId xmlns:a16="http://schemas.microsoft.com/office/drawing/2014/main" id="{67FC3C09-F085-43D2-A926-B72D6F377852}"/>
              </a:ext>
            </a:extLst>
          </p:cNvPr>
          <p:cNvSpPr>
            <a:spLocks xmlns:a="http://schemas.openxmlformats.org/drawingml/2006/main" noGrp="1"/>
          </p:cNvSpPr>
          <p:nvPr/>
        </p:nvSpPr>
        <p:spPr>
          <a:xfrm xmlns:a="http://schemas.openxmlformats.org/drawingml/2006/main">
            <a:off x="11125200" y="62960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82"/>
                </a:solidFill>
                <a:latin typeface="Arial"/>
                <a:ea typeface="Arial"/>
                <a:cs typeface="Arial"/>
              </a:defRPr>
            </a:pPr>
            <a:r>
              <a:rPr sz="1350" b="0">
                <a:solidFill>
                  <a:srgbClr val="687482"/>
                </a:solidFill>
                <a:latin typeface="Arial"/>
                <a:ea typeface="Arial"/>
                <a:cs typeface="Arial"/>
              </a:rPr>
              <a:t>08</a:t>
            </a:r>
          </a:p>
        </p:txBody>
      </p:sp>
      <p:graphicFrame>
        <p:nvGraphicFramePr>
          <p:cNvPr id="8" name=""/>
          <p:cNvGraphicFramePr/>
          <p:nvPr/>
        </p:nvGraphicFramePr>
        <p:xfrm>
          <a:off xmlns:a="http://schemas.openxmlformats.org/drawingml/2006/main" x="609600" y="1581150"/>
          <a:ext xmlns:a="http://schemas.openxmlformats.org/drawingml/2006/main" cx="6210300" cy="3600450"/>
        </p:xfrm>
        <a:graphic xmlns:a="http://schemas.openxmlformats.org/drawingml/2006/main">
          <a:graphicData uri="http://schemas.openxmlformats.org/drawingml/2006/table">
            <a:tbl>
              <a:tblPr/>
              <a:tblGrid>
                <a:gridCol w="1866900"/>
                <a:gridCol w="2190750"/>
                <a:gridCol w="2152650"/>
              </a:tblGrid>
              <a:tr h="600075">
                <a:tc>
                  <a:txBody>
                    <a:bodyPr>
                      <a:noAutofit/>
                    </a:bodyPr>
                    <a:lstStyle/>
                    <a:p>
                      <a:r>
                        <a:rPr sz="1800" b="1">
                          <a:solidFill>
                            <a:srgbClr val="FFFFFF"/>
                          </a:solidFill>
                          <a:latin typeface="Arial"/>
                          <a:ea typeface="Arial"/>
                          <a:cs typeface="Arial"/>
                        </a:rPr>
                        <a:t>Cấu hình</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Accuracy %</a:t>
                      </a:r>
                    </a:p>
                  </a:txBody>
                  <a:tcPr marL="91440" marR="91440" marT="45720" marB="45720">
                    <a:solidFill>
                      <a:srgbClr val="27374D"/>
                    </a:solidFill>
                  </a:tcPr>
                </a:tc>
                <a:tc>
                  <a:txBody>
                    <a:bodyPr>
                      <a:noAutofit/>
                    </a:bodyPr>
                    <a:lstStyle/>
                    <a:p>
                      <a:r>
                        <a:rPr sz="1800" b="1">
                          <a:solidFill>
                            <a:srgbClr val="FFFFFF"/>
                          </a:solidFill>
                          <a:latin typeface="Arial"/>
                          <a:ea typeface="Arial"/>
                          <a:cs typeface="Arial"/>
                        </a:rPr>
                        <a:t>Macro-F1</a:t>
                      </a:r>
                    </a:p>
                  </a:txBody>
                  <a:tcPr marL="91440" marR="91440" marT="45720" marB="45720">
                    <a:solidFill>
                      <a:srgbClr val="27374D"/>
                    </a:solidFill>
                  </a:tcPr>
                </a:tc>
              </a:tr>
              <a:tr h="600075">
                <a:tc>
                  <a:txBody>
                    <a:bodyPr>
                      <a:noAutofit/>
                    </a:bodyPr>
                    <a:lstStyle/>
                    <a:p>
                      <a:r>
                        <a:rPr sz="1800" b="0">
                          <a:solidFill>
                            <a:srgbClr val="27374D"/>
                          </a:solidFill>
                          <a:latin typeface="Arial"/>
                          <a:ea typeface="Arial"/>
                          <a:cs typeface="Arial"/>
                        </a:rPr>
                        <a:t>Centralized</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90.13 ± 0.14</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0.9004 ± 0.0013</a:t>
                      </a:r>
                    </a:p>
                  </a:txBody>
                  <a:tcPr marL="91440" marR="91440" marT="45720" marB="45720">
                    <a:solidFill>
                      <a:srgbClr val="F1F5F6"/>
                    </a:solidFill>
                  </a:tcPr>
                </a:tc>
              </a:tr>
              <a:tr h="600075">
                <a:tc>
                  <a:txBody>
                    <a:bodyPr>
                      <a:noAutofit/>
                    </a:bodyPr>
                    <a:lstStyle/>
                    <a:p>
                      <a:r>
                        <a:rPr sz="1800" b="0">
                          <a:solidFill>
                            <a:srgbClr val="27374D"/>
                          </a:solidFill>
                          <a:latin typeface="Arial"/>
                          <a:ea typeface="Arial"/>
                          <a:cs typeface="Arial"/>
                        </a:rPr>
                        <a:t>IID</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83.25 ± 0.58</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0.8317 ± 0.0054</a:t>
                      </a:r>
                    </a:p>
                  </a:txBody>
                  <a:tcPr marL="91440" marR="91440" marT="45720" marB="45720">
                    <a:solidFill>
                      <a:srgbClr val="FFFFFF"/>
                    </a:solidFill>
                  </a:tcPr>
                </a:tc>
              </a:tr>
              <a:tr h="600075">
                <a:tc>
                  <a:txBody>
                    <a:bodyPr>
                      <a:noAutofit/>
                    </a:bodyPr>
                    <a:lstStyle/>
                    <a:p>
                      <a:r>
                        <a:rPr sz="1800" b="0">
                          <a:solidFill>
                            <a:srgbClr val="27374D"/>
                          </a:solidFill>
                          <a:latin typeface="Arial"/>
                          <a:ea typeface="Arial"/>
                          <a:cs typeface="Arial"/>
                        </a:rPr>
                        <a:t>Mild</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81.93 ± 0.18</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0.8154 ± 0.0026</a:t>
                      </a:r>
                    </a:p>
                  </a:txBody>
                  <a:tcPr marL="91440" marR="91440" marT="45720" marB="45720">
                    <a:solidFill>
                      <a:srgbClr val="F1F5F6"/>
                    </a:solidFill>
                  </a:tcPr>
                </a:tc>
              </a:tr>
              <a:tr h="600075">
                <a:tc>
                  <a:txBody>
                    <a:bodyPr>
                      <a:noAutofit/>
                    </a:bodyPr>
                    <a:lstStyle/>
                    <a:p>
                      <a:r>
                        <a:rPr sz="1800" b="0">
                          <a:solidFill>
                            <a:srgbClr val="27374D"/>
                          </a:solidFill>
                          <a:latin typeface="Arial"/>
                          <a:ea typeface="Arial"/>
                          <a:cs typeface="Arial"/>
                        </a:rPr>
                        <a:t>Strong</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77.73 ± 0.92</a:t>
                      </a:r>
                    </a:p>
                  </a:txBody>
                  <a:tcPr marL="91440" marR="91440" marT="45720" marB="45720">
                    <a:solidFill>
                      <a:srgbClr val="FFFFFF"/>
                    </a:solidFill>
                  </a:tcPr>
                </a:tc>
                <a:tc>
                  <a:txBody>
                    <a:bodyPr>
                      <a:noAutofit/>
                    </a:bodyPr>
                    <a:lstStyle/>
                    <a:p>
                      <a:r>
                        <a:rPr sz="1800" b="0">
                          <a:solidFill>
                            <a:srgbClr val="27374D"/>
                          </a:solidFill>
                          <a:latin typeface="Arial"/>
                          <a:ea typeface="Arial"/>
                          <a:cs typeface="Arial"/>
                        </a:rPr>
                        <a:t>0.7685 ± 0.0172</a:t>
                      </a:r>
                    </a:p>
                  </a:txBody>
                  <a:tcPr marL="91440" marR="91440" marT="45720" marB="45720">
                    <a:solidFill>
                      <a:srgbClr val="FFFFFF"/>
                    </a:solidFill>
                  </a:tcPr>
                </a:tc>
              </a:tr>
              <a:tr h="600075">
                <a:tc>
                  <a:txBody>
                    <a:bodyPr>
                      <a:noAutofit/>
                    </a:bodyPr>
                    <a:lstStyle/>
                    <a:p>
                      <a:r>
                        <a:rPr sz="1800" b="0">
                          <a:solidFill>
                            <a:srgbClr val="27374D"/>
                          </a:solidFill>
                          <a:latin typeface="Arial"/>
                          <a:ea typeface="Arial"/>
                          <a:cs typeface="Arial"/>
                        </a:rPr>
                        <a:t>Strong E3</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77.77 ± 0.60</a:t>
                      </a:r>
                    </a:p>
                  </a:txBody>
                  <a:tcPr marL="91440" marR="91440" marT="45720" marB="45720">
                    <a:solidFill>
                      <a:srgbClr val="F1F5F6"/>
                    </a:solidFill>
                  </a:tcPr>
                </a:tc>
                <a:tc>
                  <a:txBody>
                    <a:bodyPr>
                      <a:noAutofit/>
                    </a:bodyPr>
                    <a:lstStyle/>
                    <a:p>
                      <a:r>
                        <a:rPr sz="1800" b="0">
                          <a:solidFill>
                            <a:srgbClr val="27374D"/>
                          </a:solidFill>
                          <a:latin typeface="Arial"/>
                          <a:ea typeface="Arial"/>
                          <a:cs typeface="Arial"/>
                        </a:rPr>
                        <a:t>0.7711 ± 0.0099</a:t>
                      </a:r>
                    </a:p>
                  </a:txBody>
                  <a:tcPr marL="91440" marR="91440" marT="45720" marB="45720">
                    <a:solidFill>
                      <a:srgbClr val="F1F5F6"/>
                    </a:solidFill>
                  </a:tcPr>
                </a:tc>
              </a:tr>
            </a:tbl>
          </a:graphicData>
        </a:graphic>
      </p:graphicFrame>
      <p:graphicFrame>
        <p:nvGraphicFramePr>
          <p:cNvPr id="9" name="Chart"/>
          <p:cNvGraphicFramePr/>
          <p:nvPr/>
        </p:nvGraphicFramePr>
        <p:xfrm>
          <a:off xmlns:a="http://schemas.openxmlformats.org/drawingml/2006/main" x="7048500" y="1504950"/>
          <a:ext xmlns:a="http://schemas.openxmlformats.org/drawingml/2006/main" cx="4552950" cy="4095750"/>
        </p:xfrm>
        <a:graphic xmlns:a="http://schemas.openxmlformats.org/drawingml/2006/main">
          <a:graphicData uri="http://schemas.openxmlformats.org/drawingml/2006/chart">
            <c:chart xmlns:r="http://schemas.openxmlformats.org/officeDocument/2006/relationships" xmlns:c="http://schemas.openxmlformats.org/drawingml/2006/chart" r:id="Rb99e1ae6430d4f65"/>
          </a:graphicData>
        </a:graphic>
      </p:graphicFrame>
      <p:sp>
        <p:nvSpPr>
          <p:cNvPr id="5" name="">
            <a:extLst xmlns:a="http://schemas.openxmlformats.org/drawingml/2006/main">
              <a:ext uri="{FF2B5EF4-FFF2-40B4-BE49-F238E27FC236}">
                <a16:creationId xmlns:a16="http://schemas.microsoft.com/office/drawing/2014/main" id="{7156D4CA-5476-4180-8363-F43B75C888FA}"/>
              </a:ext>
            </a:extLst>
          </p:cNvPr>
          <p:cNvSpPr>
            <a:spLocks xmlns:a="http://schemas.openxmlformats.org/drawingml/2006/main" noGrp="1"/>
          </p:cNvSpPr>
          <p:nvPr/>
        </p:nvSpPr>
        <p:spPr>
          <a:xfrm xmlns:a="http://schemas.openxmlformats.org/drawingml/2006/main">
            <a:off x="609600" y="5676900"/>
            <a:ext cx="1085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7374D"/>
                </a:solidFill>
                <a:latin typeface="Arial"/>
                <a:ea typeface="Arial"/>
                <a:cs typeface="Arial"/>
              </a:defRPr>
            </a:pPr>
            <a:r>
              <a:rPr sz="1800" b="0">
                <a:solidFill>
                  <a:srgbClr val="27374D"/>
                </a:solidFill>
                <a:latin typeface="Arial"/>
                <a:ea typeface="Arial"/>
                <a:cs typeface="Arial"/>
              </a:rPr>
              <a:t>Bảng: mean ± sample SD, n=3. Cột: mean accuracy. Test 10.000 ảnh.</a:t>
            </a:r>
          </a:p>
        </p:txBody>
      </p:sp>
    </p:spTree>
    <p:extLst>
      <p:ext uri="{BB962C8B-B14F-4D97-AF65-F5344CB8AC3E}">
        <p14:creationId xmlns:p14="http://schemas.microsoft.com/office/powerpoint/2010/main" val="37044141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3029CA9-372C-4B59-93CF-139DF3F35F42}"/>
              </a:ext>
            </a:extLst>
          </p:cNvPr>
          <p:cNvSpPr>
            <a:spLocks xmlns:a="http://schemas.openxmlformats.org/drawingml/2006/main" noGrp="1"/>
          </p:cNvSpPr>
          <p:nvPr/>
        </p:nvSpPr>
        <p:spPr>
          <a:xfrm xmlns:a="http://schemas.openxmlformats.org/drawingml/2006/main">
            <a:off x="609600" y="3810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7374D"/>
                </a:solidFill>
                <a:latin typeface="Arial"/>
                <a:ea typeface="Arial"/>
                <a:cs typeface="Arial"/>
              </a:defRPr>
            </a:pPr>
            <a:r>
              <a:rPr sz="3300" b="1">
                <a:solidFill>
                  <a:srgbClr val="27374D"/>
                </a:solidFill>
                <a:latin typeface="Arial"/>
                <a:ea typeface="Arial"/>
                <a:cs typeface="Arial"/>
              </a:rPr>
              <a:t>Global test accuracy theo round</a:t>
            </a:r>
          </a:p>
        </p:txBody>
      </p:sp>
      <p:sp>
        <p:nvSpPr>
          <p:cNvPr id="2" name="">
            <a:extLst xmlns:a="http://schemas.openxmlformats.org/drawingml/2006/main">
              <a:ext uri="{FF2B5EF4-FFF2-40B4-BE49-F238E27FC236}">
                <a16:creationId xmlns:a16="http://schemas.microsoft.com/office/drawing/2014/main" id="{7C0C83EA-818B-4102-A8F6-4935E41AD8B7}"/>
              </a:ext>
            </a:extLst>
          </p:cNvPr>
          <p:cNvSpPr>
            <a:spLocks xmlns:a="http://schemas.openxmlformats.org/drawingml/2006/main" noGrp="1"/>
          </p:cNvSpPr>
          <p:nvPr/>
        </p:nvSpPr>
        <p:spPr>
          <a:xfrm xmlns:a="http://schemas.openxmlformats.org/drawingml/2006/main">
            <a:off x="11125200" y="62960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82"/>
                </a:solidFill>
                <a:latin typeface="Arial"/>
                <a:ea typeface="Arial"/>
                <a:cs typeface="Arial"/>
              </a:defRPr>
            </a:pPr>
            <a:r>
              <a:rPr sz="1350" b="0">
                <a:solidFill>
                  <a:srgbClr val="687482"/>
                </a:solidFill>
                <a:latin typeface="Arial"/>
                <a:ea typeface="Arial"/>
                <a:cs typeface="Arial"/>
              </a:rPr>
              <a:t>09</a:t>
            </a:r>
          </a:p>
        </p:txBody>
      </p:sp>
      <p:graphicFrame>
        <p:nvGraphicFramePr>
          <p:cNvPr id="7" name="Chart"/>
          <p:cNvGraphicFramePr/>
          <p:nvPr/>
        </p:nvGraphicFramePr>
        <p:xfrm>
          <a:off xmlns:a="http://schemas.openxmlformats.org/drawingml/2006/main" x="609600" y="1409700"/>
          <a:ext xmlns:a="http://schemas.openxmlformats.org/drawingml/2006/main" cx="10972800" cy="4286250"/>
        </p:xfrm>
        <a:graphic xmlns:a="http://schemas.openxmlformats.org/drawingml/2006/main">
          <a:graphicData uri="http://schemas.openxmlformats.org/drawingml/2006/chart">
            <c:chart xmlns:r="http://schemas.openxmlformats.org/officeDocument/2006/relationships" xmlns:c="http://schemas.openxmlformats.org/drawingml/2006/chart" r:id="Rb16dd5c405234047"/>
          </a:graphicData>
        </a:graphic>
      </p:graphicFrame>
      <p:sp>
        <p:nvSpPr>
          <p:cNvPr id="4" name="">
            <a:extLst xmlns:a="http://schemas.openxmlformats.org/drawingml/2006/main">
              <a:ext uri="{FF2B5EF4-FFF2-40B4-BE49-F238E27FC236}">
                <a16:creationId xmlns:a16="http://schemas.microsoft.com/office/drawing/2014/main" id="{5E9EFBD0-35AA-4352-98A1-94D30A8178C9}"/>
              </a:ext>
            </a:extLst>
          </p:cNvPr>
          <p:cNvSpPr>
            <a:spLocks xmlns:a="http://schemas.openxmlformats.org/drawingml/2006/main" noGrp="1"/>
          </p:cNvSpPr>
          <p:nvPr/>
        </p:nvSpPr>
        <p:spPr>
          <a:xfrm xmlns:a="http://schemas.openxmlformats.org/drawingml/2006/main">
            <a:off x="609600" y="5895975"/>
            <a:ext cx="1085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27374D"/>
                </a:solidFill>
                <a:latin typeface="Arial"/>
                <a:ea typeface="Arial"/>
                <a:cs typeface="Arial"/>
              </a:defRPr>
            </a:pPr>
            <a:r>
              <a:rPr sz="1800" b="0">
                <a:solidFill>
                  <a:srgbClr val="27374D"/>
                </a:solidFill>
                <a:latin typeface="Arial"/>
                <a:ea typeface="Arial"/>
                <a:cs typeface="Arial"/>
              </a:rPr>
              <a:t>Mean của 3 seed. Đánh giá test sau train. Báo cáo có đầy đủ SD.</a:t>
            </a:r>
          </a:p>
        </p:txBody>
      </p:sp>
    </p:spTree>
    <p:extLst>
      <p:ext uri="{BB962C8B-B14F-4D97-AF65-F5344CB8AC3E}">
        <p14:creationId xmlns:p14="http://schemas.microsoft.com/office/powerpoint/2010/main" val="16256053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682F870-F7D2-4458-9F08-BBD6D9C911D6}"/>
              </a:ext>
            </a:extLst>
          </p:cNvPr>
          <p:cNvSpPr>
            <a:spLocks xmlns:a="http://schemas.openxmlformats.org/drawingml/2006/main" noGrp="1"/>
          </p:cNvSpPr>
          <p:nvPr/>
        </p:nvSpPr>
        <p:spPr>
          <a:xfrm xmlns:a="http://schemas.openxmlformats.org/drawingml/2006/main">
            <a:off x="609600" y="3810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7374D"/>
                </a:solidFill>
                <a:latin typeface="Arial"/>
                <a:ea typeface="Arial"/>
                <a:cs typeface="Arial"/>
              </a:defRPr>
            </a:pPr>
            <a:r>
              <a:rPr sz="3300" b="1">
                <a:solidFill>
                  <a:srgbClr val="27374D"/>
                </a:solidFill>
                <a:latin typeface="Arial"/>
                <a:ea typeface="Arial"/>
                <a:cs typeface="Arial"/>
              </a:rPr>
              <a:t>E1R30 và E3R10: cùng lượt ảnh</a:t>
            </a:r>
          </a:p>
        </p:txBody>
      </p:sp>
      <p:sp>
        <p:nvSpPr>
          <p:cNvPr id="2" name="">
            <a:extLst xmlns:a="http://schemas.openxmlformats.org/drawingml/2006/main">
              <a:ext uri="{FF2B5EF4-FFF2-40B4-BE49-F238E27FC236}">
                <a16:creationId xmlns:a16="http://schemas.microsoft.com/office/drawing/2014/main" id="{4D6F47B2-B2D6-41D8-A696-64A561811DC6}"/>
              </a:ext>
            </a:extLst>
          </p:cNvPr>
          <p:cNvSpPr>
            <a:spLocks xmlns:a="http://schemas.openxmlformats.org/drawingml/2006/main" noGrp="1"/>
          </p:cNvSpPr>
          <p:nvPr/>
        </p:nvSpPr>
        <p:spPr>
          <a:xfrm xmlns:a="http://schemas.openxmlformats.org/drawingml/2006/main">
            <a:off x="11125200" y="62960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82"/>
                </a:solidFill>
                <a:latin typeface="Arial"/>
                <a:ea typeface="Arial"/>
                <a:cs typeface="Arial"/>
              </a:defRPr>
            </a:pPr>
            <a:r>
              <a:rPr sz="1350" b="0">
                <a:solidFill>
                  <a:srgbClr val="687482"/>
                </a:solidFill>
                <a:latin typeface="Arial"/>
                <a:ea typeface="Arial"/>
                <a:cs typeface="Arial"/>
              </a:rPr>
              <a:t>10</a:t>
            </a:r>
          </a:p>
        </p:txBody>
      </p:sp>
      <p:graphicFrame>
        <p:nvGraphicFramePr>
          <p:cNvPr id="7" name="Chart"/>
          <p:cNvGraphicFramePr/>
          <p:nvPr/>
        </p:nvGraphicFramePr>
        <p:xfrm>
          <a:off xmlns:a="http://schemas.openxmlformats.org/drawingml/2006/main" x="609600" y="1428750"/>
          <a:ext xmlns:a="http://schemas.openxmlformats.org/drawingml/2006/main" cx="10972800" cy="4191000"/>
        </p:xfrm>
        <a:graphic xmlns:a="http://schemas.openxmlformats.org/drawingml/2006/main">
          <a:graphicData uri="http://schemas.openxmlformats.org/drawingml/2006/chart">
            <c:chart xmlns:r="http://schemas.openxmlformats.org/officeDocument/2006/relationships" xmlns:c="http://schemas.openxmlformats.org/drawingml/2006/chart" r:id="Re46881fb79504dfe"/>
          </a:graphicData>
        </a:graphic>
      </p:graphicFrame>
      <p:sp>
        <p:nvSpPr>
          <p:cNvPr id="4" name="">
            <a:extLst xmlns:a="http://schemas.openxmlformats.org/drawingml/2006/main">
              <a:ext uri="{FF2B5EF4-FFF2-40B4-BE49-F238E27FC236}">
                <a16:creationId xmlns:a16="http://schemas.microsoft.com/office/drawing/2014/main" id="{DCB416F0-EA46-4A67-A5F1-60A3522F287D}"/>
              </a:ext>
            </a:extLst>
          </p:cNvPr>
          <p:cNvSpPr>
            <a:spLocks xmlns:a="http://schemas.openxmlformats.org/drawingml/2006/main" noGrp="1"/>
          </p:cNvSpPr>
          <p:nvPr/>
        </p:nvSpPr>
        <p:spPr>
          <a:xfrm xmlns:a="http://schemas.openxmlformats.org/drawingml/2006/main">
            <a:off x="609600" y="583882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7374D"/>
                </a:solidFill>
                <a:latin typeface="Arial"/>
                <a:ea typeface="Arial"/>
                <a:cs typeface="Arial"/>
              </a:defRPr>
            </a:pPr>
            <a:r>
              <a:rPr sz="1950" b="0">
                <a:solidFill>
                  <a:srgbClr val="27374D"/>
                </a:solidFill>
                <a:latin typeface="Arial"/>
                <a:ea typeface="Arial"/>
                <a:cs typeface="Arial"/>
              </a:rPr>
              <a:t>E3 − E1: 0.04 điểm %. Aggregate 10 lần so với 30 lần.</a:t>
            </a:r>
          </a:p>
        </p:txBody>
      </p:sp>
    </p:spTree>
    <p:extLst>
      <p:ext uri="{BB962C8B-B14F-4D97-AF65-F5344CB8AC3E}">
        <p14:creationId xmlns:p14="http://schemas.microsoft.com/office/powerpoint/2010/main" val="87056397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F966E2-47E3-49B1-ADC5-BB588186FA77}"/>
              </a:ext>
            </a:extLst>
          </p:cNvPr>
          <p:cNvSpPr>
            <a:spLocks xmlns:a="http://schemas.openxmlformats.org/drawingml/2006/main" noGrp="1"/>
          </p:cNvSpPr>
          <p:nvPr/>
        </p:nvSpPr>
        <p:spPr>
          <a:xfrm xmlns:a="http://schemas.openxmlformats.org/drawingml/2006/main">
            <a:off x="609600" y="3810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7374D"/>
                </a:solidFill>
                <a:latin typeface="Arial"/>
                <a:ea typeface="Arial"/>
                <a:cs typeface="Arial"/>
              </a:defRPr>
            </a:pPr>
            <a:r>
              <a:rPr sz="3300" b="1">
                <a:solidFill>
                  <a:srgbClr val="27374D"/>
                </a:solidFill>
                <a:latin typeface="Arial"/>
                <a:ea typeface="Arial"/>
                <a:cs typeface="Arial"/>
              </a:rPr>
              <a:t>Phân tích lỗi theo class</a:t>
            </a:r>
          </a:p>
        </p:txBody>
      </p:sp>
      <p:sp>
        <p:nvSpPr>
          <p:cNvPr id="2" name="">
            <a:extLst xmlns:a="http://schemas.openxmlformats.org/drawingml/2006/main">
              <a:ext uri="{FF2B5EF4-FFF2-40B4-BE49-F238E27FC236}">
                <a16:creationId xmlns:a16="http://schemas.microsoft.com/office/drawing/2014/main" id="{DA2C19D4-F8C3-447A-A43C-DF1D42650F0D}"/>
              </a:ext>
            </a:extLst>
          </p:cNvPr>
          <p:cNvSpPr>
            <a:spLocks xmlns:a="http://schemas.openxmlformats.org/drawingml/2006/main" noGrp="1"/>
          </p:cNvSpPr>
          <p:nvPr/>
        </p:nvSpPr>
        <p:spPr>
          <a:xfrm xmlns:a="http://schemas.openxmlformats.org/drawingml/2006/main">
            <a:off x="11125200" y="62960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82"/>
                </a:solidFill>
                <a:latin typeface="Arial"/>
                <a:ea typeface="Arial"/>
                <a:cs typeface="Arial"/>
              </a:defRPr>
            </a:pPr>
            <a:r>
              <a:rPr sz="1350" b="0">
                <a:solidFill>
                  <a:srgbClr val="687482"/>
                </a:solidFill>
                <a:latin typeface="Arial"/>
                <a:ea typeface="Arial"/>
                <a:cs typeface="Arial"/>
              </a:rPr>
              <a:t>11</a:t>
            </a:r>
          </a:p>
        </p:txBody>
      </p:sp>
      <p:graphicFrame>
        <p:nvGraphicFramePr>
          <p:cNvPr id="7" name="Chart"/>
          <p:cNvGraphicFramePr/>
          <p:nvPr/>
        </p:nvGraphicFramePr>
        <p:xfrm>
          <a:off xmlns:a="http://schemas.openxmlformats.org/drawingml/2006/main" x="609600" y="14287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c2a35587552c4b50"/>
          </a:graphicData>
        </a:graphic>
      </p:graphicFrame>
      <p:sp>
        <p:nvSpPr>
          <p:cNvPr id="4" name="">
            <a:extLst xmlns:a="http://schemas.openxmlformats.org/drawingml/2006/main">
              <a:ext uri="{FF2B5EF4-FFF2-40B4-BE49-F238E27FC236}">
                <a16:creationId xmlns:a16="http://schemas.microsoft.com/office/drawing/2014/main" id="{76440EDA-41DA-44F9-AF73-0BD0E7C4C746}"/>
              </a:ext>
            </a:extLst>
          </p:cNvPr>
          <p:cNvSpPr>
            <a:spLocks xmlns:a="http://schemas.openxmlformats.org/drawingml/2006/main" noGrp="1"/>
          </p:cNvSpPr>
          <p:nvPr/>
        </p:nvSpPr>
        <p:spPr>
          <a:xfrm xmlns:a="http://schemas.openxmlformats.org/drawingml/2006/main">
            <a:off x="609600" y="5362575"/>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7374D"/>
                </a:solidFill>
                <a:latin typeface="Arial"/>
                <a:ea typeface="Arial"/>
                <a:cs typeface="Arial"/>
              </a:defRPr>
            </a:pPr>
            <a:r>
              <a:rPr sz="1950" b="0">
                <a:solidFill>
                  <a:srgbClr val="27374D"/>
                </a:solidFill>
                <a:latin typeface="Arial"/>
                <a:ea typeface="Arial"/>
                <a:cs typeface="Arial"/>
              </a:rPr>
              <a:t>Recall thấp nhất: Shirt (26.90%).</a:t>
            </a:r>
          </a:p>
          <a:p xmlns:a="http://schemas.openxmlformats.org/drawingml/2006/main">
            <a:pPr>
              <a:defRPr sz="1950" b="0">
                <a:solidFill>
                  <a:srgbClr val="27374D"/>
                </a:solidFill>
                <a:latin typeface="Arial"/>
                <a:ea typeface="Arial"/>
                <a:cs typeface="Arial"/>
              </a:defRPr>
            </a:pPr>
            <a:r>
              <a:rPr sz="1950" b="0">
                <a:solidFill>
                  <a:srgbClr val="27374D"/>
                </a:solidFill>
                <a:latin typeface="Arial"/>
                <a:ea typeface="Arial"/>
                <a:cs typeface="Arial"/>
              </a:rPr>
              <a:t>Seed 42 nhầm nhiều nhất: Shirt thành T-shirt/top, 267 ảnh.</a:t>
            </a:r>
          </a:p>
        </p:txBody>
      </p:sp>
    </p:spTree>
    <p:extLst>
      <p:ext uri="{BB962C8B-B14F-4D97-AF65-F5344CB8AC3E}">
        <p14:creationId xmlns:p14="http://schemas.microsoft.com/office/powerpoint/2010/main" val="114468407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D29CF5A-B132-4099-9CE3-D9C73B990C8F}"/>
              </a:ext>
            </a:extLst>
          </p:cNvPr>
          <p:cNvSpPr>
            <a:spLocks xmlns:a="http://schemas.openxmlformats.org/drawingml/2006/main" noGrp="1"/>
          </p:cNvSpPr>
          <p:nvPr/>
        </p:nvSpPr>
        <p:spPr>
          <a:xfrm xmlns:a="http://schemas.openxmlformats.org/drawingml/2006/main">
            <a:off x="609600" y="381000"/>
            <a:ext cx="109728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27374D"/>
                </a:solidFill>
                <a:latin typeface="Arial"/>
                <a:ea typeface="Arial"/>
                <a:cs typeface="Arial"/>
              </a:defRPr>
            </a:pPr>
            <a:r>
              <a:rPr sz="3300" b="1">
                <a:solidFill>
                  <a:srgbClr val="27374D"/>
                </a:solidFill>
                <a:latin typeface="Arial"/>
                <a:ea typeface="Arial"/>
                <a:cs typeface="Arial"/>
              </a:rPr>
              <a:t>Kết luận, hạn chế và demo</a:t>
            </a:r>
          </a:p>
        </p:txBody>
      </p:sp>
      <p:sp>
        <p:nvSpPr>
          <p:cNvPr id="2" name="">
            <a:extLst xmlns:a="http://schemas.openxmlformats.org/drawingml/2006/main">
              <a:ext uri="{FF2B5EF4-FFF2-40B4-BE49-F238E27FC236}">
                <a16:creationId xmlns:a16="http://schemas.microsoft.com/office/drawing/2014/main" id="{BBB1D725-E1F5-4BC8-B8B5-25995E041B3C}"/>
              </a:ext>
            </a:extLst>
          </p:cNvPr>
          <p:cNvSpPr>
            <a:spLocks xmlns:a="http://schemas.openxmlformats.org/drawingml/2006/main" noGrp="1"/>
          </p:cNvSpPr>
          <p:nvPr/>
        </p:nvSpPr>
        <p:spPr>
          <a:xfrm xmlns:a="http://schemas.openxmlformats.org/drawingml/2006/main">
            <a:off x="11125200" y="6296025"/>
            <a:ext cx="45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87482"/>
                </a:solidFill>
                <a:latin typeface="Arial"/>
                <a:ea typeface="Arial"/>
                <a:cs typeface="Arial"/>
              </a:defRPr>
            </a:pPr>
            <a:r>
              <a:rPr sz="1350" b="0">
                <a:solidFill>
                  <a:srgbClr val="687482"/>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11BD4E1A-3327-4D61-B100-27A97B49A0E0}"/>
              </a:ext>
            </a:extLst>
          </p:cNvPr>
          <p:cNvSpPr>
            <a:spLocks xmlns:a="http://schemas.openxmlformats.org/drawingml/2006/main" noGrp="1"/>
          </p:cNvSpPr>
          <p:nvPr/>
        </p:nvSpPr>
        <p:spPr>
          <a:xfrm xmlns:a="http://schemas.openxmlformats.org/drawingml/2006/main">
            <a:off x="609600" y="1571625"/>
            <a:ext cx="10858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007F73"/>
                </a:solidFill>
                <a:latin typeface="Arial"/>
                <a:ea typeface="Arial"/>
                <a:cs typeface="Arial"/>
              </a:defRPr>
            </a:pPr>
            <a:r>
              <a:rPr sz="2700" b="1">
                <a:solidFill>
                  <a:srgbClr val="007F73"/>
                </a:solidFill>
                <a:latin typeface="Arial"/>
                <a:ea typeface="Arial"/>
                <a:cs typeface="Arial"/>
              </a:rPr>
              <a:t>Strong − IID: -5.52 điểm phần trăm</a:t>
            </a:r>
          </a:p>
          <a:p xmlns:a="http://schemas.openxmlformats.org/drawingml/2006/main">
            <a:pPr>
              <a:defRPr sz="2700" b="1">
                <a:solidFill>
                  <a:srgbClr val="007F73"/>
                </a:solidFill>
                <a:latin typeface="Arial"/>
                <a:ea typeface="Arial"/>
                <a:cs typeface="Arial"/>
              </a:defRPr>
            </a:pPr>
            <a:r>
              <a:rPr sz="2700" b="1">
                <a:solidFill>
                  <a:srgbClr val="007F73"/>
                </a:solidFill>
                <a:latin typeface="Arial"/>
                <a:ea typeface="Arial"/>
                <a:cs typeface="Arial"/>
              </a:rPr>
              <a:t>15 run có log, checkpoint và audit</a:t>
            </a:r>
          </a:p>
        </p:txBody>
      </p:sp>
      <p:sp>
        <p:nvSpPr>
          <p:cNvPr id="4" name="">
            <a:extLst xmlns:a="http://schemas.openxmlformats.org/drawingml/2006/main">
              <a:ext uri="{FF2B5EF4-FFF2-40B4-BE49-F238E27FC236}">
                <a16:creationId xmlns:a16="http://schemas.microsoft.com/office/drawing/2014/main" id="{1AD7B648-4BBA-4532-8652-634C262DD253}"/>
              </a:ext>
            </a:extLst>
          </p:cNvPr>
          <p:cNvSpPr>
            <a:spLocks xmlns:a="http://schemas.openxmlformats.org/drawingml/2006/main" noGrp="1"/>
          </p:cNvSpPr>
          <p:nvPr/>
        </p:nvSpPr>
        <p:spPr>
          <a:xfrm xmlns:a="http://schemas.openxmlformats.org/drawingml/2006/main">
            <a:off x="609600" y="3124200"/>
            <a:ext cx="10820400" cy="2419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27374D"/>
                </a:solidFill>
                <a:latin typeface="Arial"/>
                <a:ea typeface="Arial"/>
                <a:cs typeface="Arial"/>
              </a:defRPr>
            </a:pPr>
            <a:r>
              <a:rPr sz="2175" b="0">
                <a:solidFill>
                  <a:srgbClr val="27374D"/>
                </a:solidFill>
                <a:latin typeface="Arial"/>
                <a:ea typeface="Arial"/>
                <a:cs typeface="Arial"/>
              </a:rPr>
              <a:t>Kết luận giới hạn Fashion-MNIST, CNN nhỏ và 3 seed.</a:t>
            </a:r>
          </a:p>
          <a:p xmlns:a="http://schemas.openxmlformats.org/drawingml/2006/main">
            <a:pPr>
              <a:defRPr sz="2175" b="0">
                <a:solidFill>
                  <a:srgbClr val="27374D"/>
                </a:solidFill>
                <a:latin typeface="Arial"/>
                <a:ea typeface="Arial"/>
                <a:cs typeface="Arial"/>
              </a:defRPr>
            </a:pPr>
            <a:r>
              <a:rPr sz="2175" b="0">
                <a:solidFill>
                  <a:srgbClr val="27374D"/>
                </a:solidFill>
                <a:latin typeface="Arial"/>
                <a:ea typeface="Arial"/>
                <a:cs typeface="Arial"/>
              </a:rPr>
              <a:t>FL trên một máy, full participation. Chưa có privacy guarantee.</a:t>
            </a:r>
          </a:p>
          <a:p xmlns:a="http://schemas.openxmlformats.org/drawingml/2006/main">
            <a:r>
              <a:t/>
            </a:r>
          </a:p>
          <a:p xmlns:a="http://schemas.openxmlformats.org/drawingml/2006/main">
            <a:pPr>
              <a:defRPr sz="2175" b="0">
                <a:solidFill>
                  <a:srgbClr val="27374D"/>
                </a:solidFill>
                <a:latin typeface="Arial"/>
                <a:ea typeface="Arial"/>
                <a:cs typeface="Arial"/>
              </a:defRPr>
            </a:pPr>
            <a:r>
              <a:rPr sz="2175" b="0">
                <a:solidFill>
                  <a:srgbClr val="27374D"/>
                </a:solidFill>
                <a:latin typeface="Arial"/>
                <a:ea typeface="Arial"/>
                <a:cs typeface="Arial"/>
              </a:rPr>
              <a:t>Demo đọc kết quả đã train trước. Có gói artifact offline.</a:t>
            </a:r>
          </a:p>
          <a:p xmlns:a="http://schemas.openxmlformats.org/drawingml/2006/main">
            <a:pPr>
              <a:defRPr sz="2175" b="0">
                <a:solidFill>
                  <a:srgbClr val="27374D"/>
                </a:solidFill>
                <a:latin typeface="Arial"/>
                <a:ea typeface="Arial"/>
                <a:cs typeface="Arial"/>
              </a:defRPr>
            </a:pPr>
            <a:r>
              <a:rPr sz="2175" b="0">
                <a:solidFill>
                  <a:srgbClr val="27374D"/>
                </a:solidFill>
                <a:latin typeface="Arial"/>
                <a:ea typeface="Arial"/>
                <a:cs typeface="Arial"/>
              </a:rPr>
              <a:t>Tái tạo: python experiments/analyze.py</a:t>
            </a:r>
          </a:p>
        </p:txBody>
      </p:sp>
    </p:spTree>
    <p:extLst>
      <p:ext uri="{BB962C8B-B14F-4D97-AF65-F5344CB8AC3E}">
        <p14:creationId xmlns:p14="http://schemas.microsoft.com/office/powerpoint/2010/main" val="2674311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2026-10-03T15:11:42.7640000Z</dcterms:created>
  <dcterms:modified xsi:type="dcterms:W3CDTF">2026-10-03T15:11:42.7640000Z</dcterms:modified>
</coreProperties>
</file>