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0:00-0:40. We study image classification when clients hold different label proportions. Ten simulated clients keep equal data quantities. Our questions concern the centralized gap, the effect of label skew and the trade-off between local epochs and aggregation rounds.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0:40-1:25. All configurations use one CNN and the same train/validation/test split. We implement weighted FedAvg with a common round snapshot. The quota design gives lambda 0, 0.5 and 0.9. Setup 1 is centralized versus IID. Setup 2 varies skew. Setup 3 compares strong E1R30 with E3R10 at equal exposure. Five configurations and three seeds give fifteen runs.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1:25-2:15. Accuracy falls from centralized to IID and further under strong skew. The gap between IID and strong is 5.52 percentage points. E3R10 and E1R30 have similar observed means, but three seeds do not prove equivalence. The table uses final checkpoints and sample SD. No test-based checkpoint selection is used.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2:15-2:55. The findings apply to this small CNN and synthetic label skew. Client drift is a plausible explanation, not directly measured. Shirt is the weakest class. For the demo, load pretrained artifacts before the exam, choose strong seed 42 and display one prediction. The demo is inference from a trained checkpoint. Stop by three minutes. The following twelve minutes are examiner questions for any group 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65760"/>
            <a:ext cx="10972800" cy="594360"/>
          </a:xfrm>
          <a:prstGeom prst="rect">
            <a:avLst/>
          </a:prstGeom>
          <a:noFill/>
        </p:spPr>
        <p:txBody>
          <a:bodyPr wrap="square">
            <a:spAutoFit/>
          </a:bodyPr>
          <a:lstStyle/>
          <a:p>
            <a:pPr>
              <a:spcAft>
                <a:spcPts val="1800"/>
              </a:spcAft>
              <a:defRPr sz="3400" b="1">
                <a:solidFill>
                  <a:srgbClr val="192E55"/>
                </a:solidFill>
                <a:latin typeface="Arial"/>
              </a:defRPr>
            </a:pPr>
            <a:r>
              <a:t>Problem &amp; Research Question</a:t>
            </a:r>
          </a:p>
        </p:txBody>
      </p:sp>
      <p:sp>
        <p:nvSpPr>
          <p:cNvPr id="3" name="TextBox 2"/>
          <p:cNvSpPr txBox="1"/>
          <p:nvPr/>
        </p:nvSpPr>
        <p:spPr>
          <a:xfrm>
            <a:off x="594360" y="6382512"/>
            <a:ext cx="10972800" cy="274320"/>
          </a:xfrm>
          <a:prstGeom prst="rect">
            <a:avLst/>
          </a:prstGeom>
          <a:noFill/>
        </p:spPr>
        <p:txBody>
          <a:bodyPr wrap="square">
            <a:spAutoFit/>
          </a:bodyPr>
          <a:lstStyle/>
          <a:p>
            <a:pPr>
              <a:spcAft>
                <a:spcPts val="1800"/>
              </a:spcAft>
              <a:defRPr sz="1200" b="0">
                <a:solidFill>
                  <a:srgbClr val="192E55"/>
                </a:solidFill>
                <a:latin typeface="Arial"/>
              </a:defRPr>
            </a:pPr>
            <a:r>
              <a:t>Group 9 - Topic 27</a:t>
            </a:r>
          </a:p>
        </p:txBody>
      </p:sp>
      <p:sp>
        <p:nvSpPr>
          <p:cNvPr id="4" name="TextBox 3"/>
          <p:cNvSpPr txBox="1"/>
          <p:nvPr/>
        </p:nvSpPr>
        <p:spPr>
          <a:xfrm>
            <a:off x="640080" y="1325880"/>
            <a:ext cx="10881360" cy="1005840"/>
          </a:xfrm>
          <a:prstGeom prst="rect">
            <a:avLst/>
          </a:prstGeom>
          <a:noFill/>
        </p:spPr>
        <p:txBody>
          <a:bodyPr wrap="square">
            <a:spAutoFit/>
          </a:bodyPr>
          <a:lstStyle/>
          <a:p>
            <a:pPr>
              <a:spcAft>
                <a:spcPts val="1800"/>
              </a:spcAft>
              <a:defRPr sz="3800" b="1">
                <a:solidFill>
                  <a:srgbClr val="192E55"/>
                </a:solidFill>
                <a:latin typeface="Arial"/>
              </a:defRPr>
            </a:pPr>
            <a:r>
              <a:t>Federated Image Classification</a:t>
            </a:r>
          </a:p>
          <a:p>
            <a:pPr>
              <a:spcAft>
                <a:spcPts val="1800"/>
              </a:spcAft>
              <a:defRPr sz="3800" b="1">
                <a:solidFill>
                  <a:srgbClr val="192E55"/>
                </a:solidFill>
                <a:latin typeface="Arial"/>
              </a:defRPr>
            </a:pPr>
            <a:r>
              <a:t>under Non-IID Data</a:t>
            </a:r>
          </a:p>
        </p:txBody>
      </p:sp>
      <p:sp>
        <p:nvSpPr>
          <p:cNvPr id="5" name="TextBox 4"/>
          <p:cNvSpPr txBox="1"/>
          <p:nvPr/>
        </p:nvSpPr>
        <p:spPr>
          <a:xfrm>
            <a:off x="640080" y="2834640"/>
            <a:ext cx="10789920" cy="2651760"/>
          </a:xfrm>
          <a:prstGeom prst="rect">
            <a:avLst/>
          </a:prstGeom>
          <a:noFill/>
        </p:spPr>
        <p:txBody>
          <a:bodyPr wrap="square">
            <a:spAutoFit/>
          </a:bodyPr>
          <a:lstStyle/>
          <a:p>
            <a:pPr>
              <a:spcAft>
                <a:spcPts val="1800"/>
              </a:spcAft>
              <a:defRPr sz="2600" b="0">
                <a:solidFill>
                  <a:srgbClr val="192E55"/>
                </a:solidFill>
                <a:latin typeface="Arial"/>
              </a:defRPr>
            </a:pPr>
            <a:r>
              <a:t>How does client label skew change global classification quality?</a:t>
            </a:r>
          </a:p>
          <a:p>
            <a:pPr>
              <a:spcAft>
                <a:spcPts val="1800"/>
              </a:spcAft>
              <a:defRPr sz="2600" b="0">
                <a:solidFill>
                  <a:srgbClr val="192E55"/>
                </a:solidFill>
                <a:latin typeface="Arial"/>
              </a:defRPr>
            </a:pPr>
            <a:r>
              <a:t>10 clients, equal image counts, different label proportions.</a:t>
            </a:r>
          </a:p>
          <a:p>
            <a:pPr>
              <a:spcAft>
                <a:spcPts val="1800"/>
              </a:spcAft>
              <a:defRPr sz="2600" b="0">
                <a:solidFill>
                  <a:srgbClr val="192E55"/>
                </a:solidFill>
                <a:latin typeface="Arial"/>
              </a:defRPr>
            </a:pPr>
            <a:r>
              <a:t>Compare centralized training, skew severity and local epochs.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65760"/>
            <a:ext cx="10972800" cy="594360"/>
          </a:xfrm>
          <a:prstGeom prst="rect">
            <a:avLst/>
          </a:prstGeom>
          <a:noFill/>
        </p:spPr>
        <p:txBody>
          <a:bodyPr wrap="square">
            <a:spAutoFit/>
          </a:bodyPr>
          <a:lstStyle/>
          <a:p>
            <a:pPr>
              <a:spcAft>
                <a:spcPts val="1800"/>
              </a:spcAft>
              <a:defRPr sz="3400" b="1">
                <a:solidFill>
                  <a:srgbClr val="192E55"/>
                </a:solidFill>
                <a:latin typeface="Arial"/>
              </a:defRPr>
            </a:pPr>
            <a:r>
              <a:t>Method &amp; Experiments</a:t>
            </a:r>
          </a:p>
        </p:txBody>
      </p:sp>
      <p:sp>
        <p:nvSpPr>
          <p:cNvPr id="3" name="TextBox 2"/>
          <p:cNvSpPr txBox="1"/>
          <p:nvPr/>
        </p:nvSpPr>
        <p:spPr>
          <a:xfrm>
            <a:off x="594360" y="6382512"/>
            <a:ext cx="10972800" cy="274320"/>
          </a:xfrm>
          <a:prstGeom prst="rect">
            <a:avLst/>
          </a:prstGeom>
          <a:noFill/>
        </p:spPr>
        <p:txBody>
          <a:bodyPr wrap="square">
            <a:spAutoFit/>
          </a:bodyPr>
          <a:lstStyle/>
          <a:p>
            <a:pPr>
              <a:spcAft>
                <a:spcPts val="1800"/>
              </a:spcAft>
              <a:defRPr sz="1200" b="0">
                <a:solidFill>
                  <a:srgbClr val="192E55"/>
                </a:solidFill>
                <a:latin typeface="Arial"/>
              </a:defRPr>
            </a:pPr>
            <a:r>
              <a:t>Group 9 - Topic 27</a:t>
            </a:r>
          </a:p>
        </p:txBody>
      </p:sp>
      <p:sp>
        <p:nvSpPr>
          <p:cNvPr id="4" name="TextBox 3"/>
          <p:cNvSpPr txBox="1"/>
          <p:nvPr/>
        </p:nvSpPr>
        <p:spPr>
          <a:xfrm>
            <a:off x="640080" y="1325880"/>
            <a:ext cx="10972800" cy="1005840"/>
          </a:xfrm>
          <a:prstGeom prst="rect">
            <a:avLst/>
          </a:prstGeom>
          <a:noFill/>
        </p:spPr>
        <p:txBody>
          <a:bodyPr wrap="square">
            <a:spAutoFit/>
          </a:bodyPr>
          <a:lstStyle/>
          <a:p>
            <a:pPr>
              <a:spcAft>
                <a:spcPts val="1800"/>
              </a:spcAft>
              <a:defRPr sz="2400" b="0">
                <a:solidFill>
                  <a:srgbClr val="192E55"/>
                </a:solidFill>
                <a:latin typeface="Arial"/>
              </a:defRPr>
            </a:pPr>
            <a:r>
              <a:t>Fashion-MNIST: 54k train / 6k validation / 10k test</a:t>
            </a:r>
          </a:p>
          <a:p>
            <a:pPr>
              <a:spcAft>
                <a:spcPts val="1800"/>
              </a:spcAft>
              <a:defRPr sz="2400" b="0">
                <a:solidFill>
                  <a:srgbClr val="192E55"/>
                </a:solidFill>
                <a:latin typeface="Arial"/>
              </a:defRPr>
            </a:pPr>
            <a:r>
              <a:t>Small CNN, 105,866 parameters. Weighted FedAvg in PyTorch.</a:t>
            </a:r>
          </a:p>
        </p:txBody>
      </p:sp>
      <p:sp>
        <p:nvSpPr>
          <p:cNvPr id="5" name="TextBox 4"/>
          <p:cNvSpPr txBox="1"/>
          <p:nvPr/>
        </p:nvSpPr>
        <p:spPr>
          <a:xfrm>
            <a:off x="640080" y="2743200"/>
            <a:ext cx="10789920" cy="3200400"/>
          </a:xfrm>
          <a:prstGeom prst="rect">
            <a:avLst/>
          </a:prstGeom>
          <a:noFill/>
        </p:spPr>
        <p:txBody>
          <a:bodyPr wrap="square">
            <a:spAutoFit/>
          </a:bodyPr>
          <a:lstStyle/>
          <a:p>
            <a:pPr>
              <a:spcAft>
                <a:spcPts val="1800"/>
              </a:spcAft>
              <a:defRPr sz="2500" b="0">
                <a:solidFill>
                  <a:srgbClr val="192E55"/>
                </a:solidFill>
                <a:latin typeface="Arial"/>
              </a:defRPr>
            </a:pPr>
            <a:r>
              <a:t>Setup 1: Centralized versus FedAvg IID</a:t>
            </a:r>
          </a:p>
          <a:p>
            <a:pPr>
              <a:spcAft>
                <a:spcPts val="1800"/>
              </a:spcAft>
              <a:defRPr sz="2500" b="0">
                <a:solidFill>
                  <a:srgbClr val="192E55"/>
                </a:solidFill>
                <a:latin typeface="Arial"/>
              </a:defRPr>
            </a:pPr>
            <a:r>
              <a:t>Setup 2: IID, mild and strong label skew</a:t>
            </a:r>
          </a:p>
          <a:p>
            <a:pPr>
              <a:spcAft>
                <a:spcPts val="1800"/>
              </a:spcAft>
              <a:defRPr sz="2500" b="0">
                <a:solidFill>
                  <a:srgbClr val="192E55"/>
                </a:solidFill>
                <a:latin typeface="Arial"/>
              </a:defRPr>
            </a:pPr>
            <a:r>
              <a:t>Setup 3: Strong E1R30 versus E3R10 at equal exposure</a:t>
            </a:r>
          </a:p>
          <a:p>
            <a:pPr>
              <a:spcAft>
                <a:spcPts val="1800"/>
              </a:spcAft>
              <a:defRPr sz="2500" b="0">
                <a:solidFill>
                  <a:srgbClr val="192E55"/>
                </a:solidFill>
                <a:latin typeface="Arial"/>
              </a:defRPr>
            </a:pPr>
            <a:r>
              <a:t>5 configurations x 3 seeds. 1,620,000 image exposures per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65760"/>
            <a:ext cx="10972800" cy="594360"/>
          </a:xfrm>
          <a:prstGeom prst="rect">
            <a:avLst/>
          </a:prstGeom>
          <a:noFill/>
        </p:spPr>
        <p:txBody>
          <a:bodyPr wrap="square">
            <a:spAutoFit/>
          </a:bodyPr>
          <a:lstStyle/>
          <a:p>
            <a:pPr>
              <a:spcAft>
                <a:spcPts val="1800"/>
              </a:spcAft>
              <a:defRPr sz="3400" b="1">
                <a:solidFill>
                  <a:srgbClr val="192E55"/>
                </a:solidFill>
                <a:latin typeface="Arial"/>
              </a:defRPr>
            </a:pPr>
            <a:r>
              <a:t>Key Results</a:t>
            </a:r>
          </a:p>
        </p:txBody>
      </p:sp>
      <p:sp>
        <p:nvSpPr>
          <p:cNvPr id="3" name="TextBox 2"/>
          <p:cNvSpPr txBox="1"/>
          <p:nvPr/>
        </p:nvSpPr>
        <p:spPr>
          <a:xfrm>
            <a:off x="594360" y="6382512"/>
            <a:ext cx="10972800" cy="274320"/>
          </a:xfrm>
          <a:prstGeom prst="rect">
            <a:avLst/>
          </a:prstGeom>
          <a:noFill/>
        </p:spPr>
        <p:txBody>
          <a:bodyPr wrap="square">
            <a:spAutoFit/>
          </a:bodyPr>
          <a:lstStyle/>
          <a:p>
            <a:pPr>
              <a:spcAft>
                <a:spcPts val="1800"/>
              </a:spcAft>
              <a:defRPr sz="1200" b="0">
                <a:solidFill>
                  <a:srgbClr val="192E55"/>
                </a:solidFill>
                <a:latin typeface="Arial"/>
              </a:defRPr>
            </a:pPr>
            <a:r>
              <a:t>Group 9 - Topic 27</a:t>
            </a:r>
          </a:p>
        </p:txBody>
      </p:sp>
      <p:graphicFrame>
        <p:nvGraphicFramePr>
          <p:cNvPr id="4" name="Table 3"/>
          <p:cNvGraphicFramePr>
            <a:graphicFrameLocks noGrp="1"/>
          </p:cNvGraphicFramePr>
          <p:nvPr/>
        </p:nvGraphicFramePr>
        <p:xfrm>
          <a:off x="685800" y="1325880"/>
          <a:ext cx="6675120" cy="3520440"/>
        </p:xfrm>
        <a:graphic>
          <a:graphicData uri="http://schemas.openxmlformats.org/drawingml/2006/table">
            <a:tbl>
              <a:tblPr firstRow="1" bandRow="1">
                <a:tableStyleId>{5C22544A-7EE6-4342-B048-85BDC9FD1C3A}</a:tableStyleId>
              </a:tblPr>
              <a:tblGrid>
                <a:gridCol w="2743200"/>
                <a:gridCol w="2331720"/>
                <a:gridCol w="1600200"/>
              </a:tblGrid>
              <a:tr h="586740">
                <a:tc>
                  <a:txBody>
                    <a:bodyPr/>
                    <a:lstStyle/>
                    <a:p>
                      <a:pPr>
                        <a:defRPr sz="2000" b="1">
                          <a:solidFill>
                            <a:srgbClr val="192E55"/>
                          </a:solidFill>
                          <a:latin typeface="Arial"/>
                        </a:defRPr>
                      </a:pPr>
                      <a:r>
                        <a:t>Setting</a:t>
                      </a:r>
                    </a:p>
                  </a:txBody>
                  <a:tcPr>
                    <a:solidFill>
                      <a:srgbClr val="EEF2F7"/>
                    </a:solidFill>
                  </a:tcPr>
                </a:tc>
                <a:tc>
                  <a:txBody>
                    <a:bodyPr/>
                    <a:lstStyle/>
                    <a:p>
                      <a:pPr>
                        <a:defRPr sz="2000" b="1">
                          <a:solidFill>
                            <a:srgbClr val="192E55"/>
                          </a:solidFill>
                          <a:latin typeface="Arial"/>
                        </a:defRPr>
                      </a:pPr>
                      <a:r>
                        <a:t>Accuracy (%)</a:t>
                      </a:r>
                    </a:p>
                  </a:txBody>
                  <a:tcPr>
                    <a:solidFill>
                      <a:srgbClr val="EEF2F7"/>
                    </a:solidFill>
                  </a:tcPr>
                </a:tc>
                <a:tc>
                  <a:txBody>
                    <a:bodyPr/>
                    <a:lstStyle/>
                    <a:p>
                      <a:pPr>
                        <a:defRPr sz="2000" b="1">
                          <a:solidFill>
                            <a:srgbClr val="192E55"/>
                          </a:solidFill>
                          <a:latin typeface="Arial"/>
                        </a:defRPr>
                      </a:pPr>
                      <a:r>
                        <a:t>Macro-F1</a:t>
                      </a:r>
                    </a:p>
                  </a:txBody>
                  <a:tcPr>
                    <a:solidFill>
                      <a:srgbClr val="EEF2F7"/>
                    </a:solidFill>
                  </a:tcPr>
                </a:tc>
              </a:tr>
              <a:tr h="586740">
                <a:tc>
                  <a:txBody>
                    <a:bodyPr/>
                    <a:lstStyle/>
                    <a:p>
                      <a:pPr>
                        <a:defRPr sz="2000" b="0">
                          <a:solidFill>
                            <a:srgbClr val="192E55"/>
                          </a:solidFill>
                          <a:latin typeface="Arial"/>
                        </a:defRPr>
                      </a:pPr>
                      <a:r>
                        <a:t>Centralized</a:t>
                      </a:r>
                    </a:p>
                  </a:txBody>
                  <a:tcPr>
                    <a:solidFill>
                      <a:srgbClr val="FFFFFF"/>
                    </a:solidFill>
                  </a:tcPr>
                </a:tc>
                <a:tc>
                  <a:txBody>
                    <a:bodyPr/>
                    <a:lstStyle/>
                    <a:p>
                      <a:pPr>
                        <a:defRPr sz="2000" b="0">
                          <a:solidFill>
                            <a:srgbClr val="192E55"/>
                          </a:solidFill>
                          <a:latin typeface="Arial"/>
                        </a:defRPr>
                      </a:pPr>
                      <a:r>
                        <a:t>90.13 +/- 0.14</a:t>
                      </a:r>
                    </a:p>
                  </a:txBody>
                  <a:tcPr>
                    <a:solidFill>
                      <a:srgbClr val="FFFFFF"/>
                    </a:solidFill>
                  </a:tcPr>
                </a:tc>
                <a:tc>
                  <a:txBody>
                    <a:bodyPr/>
                    <a:lstStyle/>
                    <a:p>
                      <a:pPr>
                        <a:defRPr sz="2000" b="0">
                          <a:solidFill>
                            <a:srgbClr val="192E55"/>
                          </a:solidFill>
                          <a:latin typeface="Arial"/>
                        </a:defRPr>
                      </a:pPr>
                      <a:r>
                        <a:t>0.9004</a:t>
                      </a:r>
                    </a:p>
                  </a:txBody>
                  <a:tcPr>
                    <a:solidFill>
                      <a:srgbClr val="FFFFFF"/>
                    </a:solidFill>
                  </a:tcPr>
                </a:tc>
              </a:tr>
              <a:tr h="586740">
                <a:tc>
                  <a:txBody>
                    <a:bodyPr/>
                    <a:lstStyle/>
                    <a:p>
                      <a:pPr>
                        <a:defRPr sz="2000" b="0">
                          <a:solidFill>
                            <a:srgbClr val="192E55"/>
                          </a:solidFill>
                          <a:latin typeface="Arial"/>
                        </a:defRPr>
                      </a:pPr>
                      <a:r>
                        <a:t>FedAvg IID</a:t>
                      </a:r>
                    </a:p>
                  </a:txBody>
                  <a:tcPr>
                    <a:solidFill>
                      <a:srgbClr val="FFFFFF"/>
                    </a:solidFill>
                  </a:tcPr>
                </a:tc>
                <a:tc>
                  <a:txBody>
                    <a:bodyPr/>
                    <a:lstStyle/>
                    <a:p>
                      <a:pPr>
                        <a:defRPr sz="2000" b="0">
                          <a:solidFill>
                            <a:srgbClr val="192E55"/>
                          </a:solidFill>
                          <a:latin typeface="Arial"/>
                        </a:defRPr>
                      </a:pPr>
                      <a:r>
                        <a:t>83.25 +/- 0.58</a:t>
                      </a:r>
                    </a:p>
                  </a:txBody>
                  <a:tcPr>
                    <a:solidFill>
                      <a:srgbClr val="FFFFFF"/>
                    </a:solidFill>
                  </a:tcPr>
                </a:tc>
                <a:tc>
                  <a:txBody>
                    <a:bodyPr/>
                    <a:lstStyle/>
                    <a:p>
                      <a:pPr>
                        <a:defRPr sz="2000" b="0">
                          <a:solidFill>
                            <a:srgbClr val="192E55"/>
                          </a:solidFill>
                          <a:latin typeface="Arial"/>
                        </a:defRPr>
                      </a:pPr>
                      <a:r>
                        <a:t>0.8317</a:t>
                      </a:r>
                    </a:p>
                  </a:txBody>
                  <a:tcPr>
                    <a:solidFill>
                      <a:srgbClr val="FFFFFF"/>
                    </a:solidFill>
                  </a:tcPr>
                </a:tc>
              </a:tr>
              <a:tr h="586740">
                <a:tc>
                  <a:txBody>
                    <a:bodyPr/>
                    <a:lstStyle/>
                    <a:p>
                      <a:pPr>
                        <a:defRPr sz="2000" b="0">
                          <a:solidFill>
                            <a:srgbClr val="192E55"/>
                          </a:solidFill>
                          <a:latin typeface="Arial"/>
                        </a:defRPr>
                      </a:pPr>
                      <a:r>
                        <a:t>FedAvg mild</a:t>
                      </a:r>
                    </a:p>
                  </a:txBody>
                  <a:tcPr>
                    <a:solidFill>
                      <a:srgbClr val="FFFFFF"/>
                    </a:solidFill>
                  </a:tcPr>
                </a:tc>
                <a:tc>
                  <a:txBody>
                    <a:bodyPr/>
                    <a:lstStyle/>
                    <a:p>
                      <a:pPr>
                        <a:defRPr sz="2000" b="0">
                          <a:solidFill>
                            <a:srgbClr val="192E55"/>
                          </a:solidFill>
                          <a:latin typeface="Arial"/>
                        </a:defRPr>
                      </a:pPr>
                      <a:r>
                        <a:t>81.93 +/- 0.18</a:t>
                      </a:r>
                    </a:p>
                  </a:txBody>
                  <a:tcPr>
                    <a:solidFill>
                      <a:srgbClr val="FFFFFF"/>
                    </a:solidFill>
                  </a:tcPr>
                </a:tc>
                <a:tc>
                  <a:txBody>
                    <a:bodyPr/>
                    <a:lstStyle/>
                    <a:p>
                      <a:pPr>
                        <a:defRPr sz="2000" b="0">
                          <a:solidFill>
                            <a:srgbClr val="192E55"/>
                          </a:solidFill>
                          <a:latin typeface="Arial"/>
                        </a:defRPr>
                      </a:pPr>
                      <a:r>
                        <a:t>0.8154</a:t>
                      </a:r>
                    </a:p>
                  </a:txBody>
                  <a:tcPr>
                    <a:solidFill>
                      <a:srgbClr val="FFFFFF"/>
                    </a:solidFill>
                  </a:tcPr>
                </a:tc>
              </a:tr>
              <a:tr h="586740">
                <a:tc>
                  <a:txBody>
                    <a:bodyPr/>
                    <a:lstStyle/>
                    <a:p>
                      <a:pPr>
                        <a:defRPr sz="2000" b="0">
                          <a:solidFill>
                            <a:srgbClr val="192E55"/>
                          </a:solidFill>
                          <a:latin typeface="Arial"/>
                        </a:defRPr>
                      </a:pPr>
                      <a:r>
                        <a:t>FedAvg strong</a:t>
                      </a:r>
                    </a:p>
                  </a:txBody>
                  <a:tcPr>
                    <a:solidFill>
                      <a:srgbClr val="FFFFFF"/>
                    </a:solidFill>
                  </a:tcPr>
                </a:tc>
                <a:tc>
                  <a:txBody>
                    <a:bodyPr/>
                    <a:lstStyle/>
                    <a:p>
                      <a:pPr>
                        <a:defRPr sz="2000" b="0">
                          <a:solidFill>
                            <a:srgbClr val="192E55"/>
                          </a:solidFill>
                          <a:latin typeface="Arial"/>
                        </a:defRPr>
                      </a:pPr>
                      <a:r>
                        <a:t>77.73 +/- 0.92</a:t>
                      </a:r>
                    </a:p>
                  </a:txBody>
                  <a:tcPr>
                    <a:solidFill>
                      <a:srgbClr val="FFFFFF"/>
                    </a:solidFill>
                  </a:tcPr>
                </a:tc>
                <a:tc>
                  <a:txBody>
                    <a:bodyPr/>
                    <a:lstStyle/>
                    <a:p>
                      <a:pPr>
                        <a:defRPr sz="2000" b="0">
                          <a:solidFill>
                            <a:srgbClr val="192E55"/>
                          </a:solidFill>
                          <a:latin typeface="Arial"/>
                        </a:defRPr>
                      </a:pPr>
                      <a:r>
                        <a:t>0.7685</a:t>
                      </a:r>
                    </a:p>
                  </a:txBody>
                  <a:tcPr>
                    <a:solidFill>
                      <a:srgbClr val="FFFFFF"/>
                    </a:solidFill>
                  </a:tcPr>
                </a:tc>
              </a:tr>
              <a:tr h="586740">
                <a:tc>
                  <a:txBody>
                    <a:bodyPr/>
                    <a:lstStyle/>
                    <a:p>
                      <a:pPr>
                        <a:defRPr sz="2000" b="0">
                          <a:solidFill>
                            <a:srgbClr val="192E55"/>
                          </a:solidFill>
                          <a:latin typeface="Arial"/>
                        </a:defRPr>
                      </a:pPr>
                      <a:r>
                        <a:t>Strong E3R10</a:t>
                      </a:r>
                    </a:p>
                  </a:txBody>
                  <a:tcPr>
                    <a:solidFill>
                      <a:srgbClr val="FFFFFF"/>
                    </a:solidFill>
                  </a:tcPr>
                </a:tc>
                <a:tc>
                  <a:txBody>
                    <a:bodyPr/>
                    <a:lstStyle/>
                    <a:p>
                      <a:pPr>
                        <a:defRPr sz="2000" b="0">
                          <a:solidFill>
                            <a:srgbClr val="192E55"/>
                          </a:solidFill>
                          <a:latin typeface="Arial"/>
                        </a:defRPr>
                      </a:pPr>
                      <a:r>
                        <a:t>77.77 +/- 0.60</a:t>
                      </a:r>
                    </a:p>
                  </a:txBody>
                  <a:tcPr>
                    <a:solidFill>
                      <a:srgbClr val="FFFFFF"/>
                    </a:solidFill>
                  </a:tcPr>
                </a:tc>
                <a:tc>
                  <a:txBody>
                    <a:bodyPr/>
                    <a:lstStyle/>
                    <a:p>
                      <a:pPr>
                        <a:defRPr sz="2000" b="0">
                          <a:solidFill>
                            <a:srgbClr val="192E55"/>
                          </a:solidFill>
                          <a:latin typeface="Arial"/>
                        </a:defRPr>
                      </a:pPr>
                      <a:r>
                        <a:t>0.7711</a:t>
                      </a:r>
                    </a:p>
                  </a:txBody>
                  <a:tcPr>
                    <a:solidFill>
                      <a:srgbClr val="FFFFFF"/>
                    </a:solidFill>
                  </a:tcPr>
                </a:tc>
              </a:tr>
            </a:tbl>
          </a:graphicData>
        </a:graphic>
      </p:graphicFrame>
      <p:sp>
        <p:nvSpPr>
          <p:cNvPr id="5" name="TextBox 4"/>
          <p:cNvSpPr txBox="1"/>
          <p:nvPr/>
        </p:nvSpPr>
        <p:spPr>
          <a:xfrm>
            <a:off x="7818120" y="1600200"/>
            <a:ext cx="3611880" cy="3474720"/>
          </a:xfrm>
          <a:prstGeom prst="rect">
            <a:avLst/>
          </a:prstGeom>
          <a:noFill/>
        </p:spPr>
        <p:txBody>
          <a:bodyPr wrap="square">
            <a:spAutoFit/>
          </a:bodyPr>
          <a:lstStyle/>
          <a:p>
            <a:pPr>
              <a:spcAft>
                <a:spcPts val="1800"/>
              </a:spcAft>
              <a:defRPr sz="2600" b="1">
                <a:solidFill>
                  <a:srgbClr val="192E55"/>
                </a:solidFill>
                <a:latin typeface="Arial"/>
              </a:defRPr>
            </a:pPr>
            <a:r>
              <a:t>Strong skew: -5.52 pp versus IID</a:t>
            </a:r>
          </a:p>
          <a:p>
            <a:pPr>
              <a:spcAft>
                <a:spcPts val="1800"/>
              </a:spcAft>
              <a:defRPr sz="2600" b="1">
                <a:solidFill>
                  <a:srgbClr val="192E55"/>
                </a:solidFill>
                <a:latin typeface="Arial"/>
              </a:defRPr>
            </a:pPr>
          </a:p>
          <a:p>
            <a:pPr>
              <a:spcAft>
                <a:spcPts val="1800"/>
              </a:spcAft>
              <a:defRPr sz="2600" b="1">
                <a:solidFill>
                  <a:srgbClr val="192E55"/>
                </a:solidFill>
                <a:latin typeface="Arial"/>
              </a:defRPr>
            </a:pPr>
            <a:r>
              <a:t>E3R10: +0.04 pp versus E1R30 with 20 fewer rounds</a:t>
            </a:r>
          </a:p>
        </p:txBody>
      </p:sp>
      <p:sp>
        <p:nvSpPr>
          <p:cNvPr id="6" name="TextBox 5"/>
          <p:cNvSpPr txBox="1"/>
          <p:nvPr/>
        </p:nvSpPr>
        <p:spPr>
          <a:xfrm>
            <a:off x="731520" y="5212080"/>
            <a:ext cx="10881360" cy="548640"/>
          </a:xfrm>
          <a:prstGeom prst="rect">
            <a:avLst/>
          </a:prstGeom>
          <a:noFill/>
        </p:spPr>
        <p:txBody>
          <a:bodyPr wrap="square">
            <a:spAutoFit/>
          </a:bodyPr>
          <a:lstStyle/>
          <a:p>
            <a:pPr>
              <a:spcAft>
                <a:spcPts val="1800"/>
              </a:spcAft>
              <a:defRPr sz="2000" b="0">
                <a:solidFill>
                  <a:srgbClr val="192E55"/>
                </a:solidFill>
                <a:latin typeface="Arial"/>
              </a:defRPr>
            </a:pPr>
            <a:r>
              <a:t>Final checkpoints. Mean +/- sample SD over three seeds.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65760"/>
            <a:ext cx="10972800" cy="594360"/>
          </a:xfrm>
          <a:prstGeom prst="rect">
            <a:avLst/>
          </a:prstGeom>
          <a:noFill/>
        </p:spPr>
        <p:txBody>
          <a:bodyPr wrap="square">
            <a:spAutoFit/>
          </a:bodyPr>
          <a:lstStyle/>
          <a:p>
            <a:pPr>
              <a:spcAft>
                <a:spcPts val="1800"/>
              </a:spcAft>
              <a:defRPr sz="3400" b="1">
                <a:solidFill>
                  <a:srgbClr val="192E55"/>
                </a:solidFill>
                <a:latin typeface="Arial"/>
              </a:defRPr>
            </a:pPr>
            <a:r>
              <a:t>Conclusion / Demo</a:t>
            </a:r>
          </a:p>
        </p:txBody>
      </p:sp>
      <p:sp>
        <p:nvSpPr>
          <p:cNvPr id="3" name="TextBox 2"/>
          <p:cNvSpPr txBox="1"/>
          <p:nvPr/>
        </p:nvSpPr>
        <p:spPr>
          <a:xfrm>
            <a:off x="594360" y="6382512"/>
            <a:ext cx="10972800" cy="274320"/>
          </a:xfrm>
          <a:prstGeom prst="rect">
            <a:avLst/>
          </a:prstGeom>
          <a:noFill/>
        </p:spPr>
        <p:txBody>
          <a:bodyPr wrap="square">
            <a:spAutoFit/>
          </a:bodyPr>
          <a:lstStyle/>
          <a:p>
            <a:pPr>
              <a:spcAft>
                <a:spcPts val="1800"/>
              </a:spcAft>
              <a:defRPr sz="1200" b="0">
                <a:solidFill>
                  <a:srgbClr val="192E55"/>
                </a:solidFill>
                <a:latin typeface="Arial"/>
              </a:defRPr>
            </a:pPr>
            <a:r>
              <a:t>Group 9 - Topic 27</a:t>
            </a:r>
          </a:p>
        </p:txBody>
      </p:sp>
      <p:sp>
        <p:nvSpPr>
          <p:cNvPr id="4" name="TextBox 3"/>
          <p:cNvSpPr txBox="1"/>
          <p:nvPr/>
        </p:nvSpPr>
        <p:spPr>
          <a:xfrm>
            <a:off x="640080" y="1280160"/>
            <a:ext cx="6400800" cy="4389120"/>
          </a:xfrm>
          <a:prstGeom prst="rect">
            <a:avLst/>
          </a:prstGeom>
          <a:noFill/>
        </p:spPr>
        <p:txBody>
          <a:bodyPr wrap="square">
            <a:spAutoFit/>
          </a:bodyPr>
          <a:lstStyle/>
          <a:p>
            <a:pPr>
              <a:spcAft>
                <a:spcPts val="1800"/>
              </a:spcAft>
              <a:defRPr sz="2400" b="0">
                <a:solidFill>
                  <a:srgbClr val="192E55"/>
                </a:solidFill>
                <a:latin typeface="Arial"/>
              </a:defRPr>
            </a:pPr>
            <a:r>
              <a:t>Label skew reduces global quality in this protocol.</a:t>
            </a:r>
          </a:p>
          <a:p>
            <a:pPr>
              <a:spcAft>
                <a:spcPts val="1800"/>
              </a:spcAft>
              <a:defRPr sz="2400" b="0">
                <a:solidFill>
                  <a:srgbClr val="192E55"/>
                </a:solidFill>
                <a:latin typeface="Arial"/>
              </a:defRPr>
            </a:pPr>
            <a:r>
              <a:t>Fewer rounds retain similar observed mean accuracy at fixed exposure.</a:t>
            </a:r>
          </a:p>
          <a:p>
            <a:pPr>
              <a:spcAft>
                <a:spcPts val="1800"/>
              </a:spcAft>
              <a:defRPr sz="2400" b="0">
                <a:solidFill>
                  <a:srgbClr val="192E55"/>
                </a:solidFill>
                <a:latin typeface="Arial"/>
              </a:defRPr>
            </a:pPr>
            <a:r>
              <a:t>Limits: one dataset/CNN, three seeds, simulated clients.</a:t>
            </a:r>
          </a:p>
          <a:p>
            <a:pPr>
              <a:spcAft>
                <a:spcPts val="1800"/>
              </a:spcAft>
              <a:defRPr sz="2400" b="0">
                <a:solidFill>
                  <a:srgbClr val="192E55"/>
                </a:solidFill>
                <a:latin typeface="Arial"/>
              </a:defRPr>
            </a:pPr>
            <a:r>
              <a:t>Demo: strong seed 42, one test prediction from a trained checkpoint.</a:t>
            </a:r>
          </a:p>
        </p:txBody>
      </p:sp>
      <p:pic>
        <p:nvPicPr>
          <p:cNvPr id="5" name="Picture 4" descr="07_error_examples.png"/>
          <p:cNvPicPr>
            <a:picLocks noChangeAspect="1"/>
          </p:cNvPicPr>
          <p:nvPr/>
        </p:nvPicPr>
        <p:blipFill>
          <a:blip r:embed="rId3"/>
          <a:stretch>
            <a:fillRect/>
          </a:stretch>
        </p:blipFill>
        <p:spPr>
          <a:xfrm>
            <a:off x="7315200" y="1874519"/>
            <a:ext cx="4206240" cy="2503514"/>
          </a:xfrm>
          <a:prstGeom prst="rect">
            <a:avLst/>
          </a:prstGeom>
        </p:spPr>
      </p:pic>
      <p:sp>
        <p:nvSpPr>
          <p:cNvPr id="6" name="TextBox 5"/>
          <p:cNvSpPr txBox="1"/>
          <p:nvPr/>
        </p:nvSpPr>
        <p:spPr>
          <a:xfrm>
            <a:off x="7360920" y="4572000"/>
            <a:ext cx="4160520" cy="1280160"/>
          </a:xfrm>
          <a:prstGeom prst="rect">
            <a:avLst/>
          </a:prstGeom>
          <a:noFill/>
        </p:spPr>
        <p:txBody>
          <a:bodyPr wrap="square">
            <a:spAutoFit/>
          </a:bodyPr>
          <a:lstStyle/>
          <a:p>
            <a:pPr>
              <a:spcAft>
                <a:spcPts val="1800"/>
              </a:spcAft>
              <a:defRPr sz="2100" b="0">
                <a:solidFill>
                  <a:srgbClr val="192E55"/>
                </a:solidFill>
                <a:latin typeface="Arial"/>
              </a:defRPr>
            </a:pPr>
            <a:r>
              <a:t>Shirt recall: 0.2690</a:t>
            </a:r>
          </a:p>
          <a:p>
            <a:pPr>
              <a:spcAft>
                <a:spcPts val="1800"/>
              </a:spcAft>
              <a:defRPr sz="2100" b="0">
                <a:solidFill>
                  <a:srgbClr val="192E55"/>
                </a:solidFill>
                <a:latin typeface="Arial"/>
              </a:defRPr>
            </a:pPr>
            <a:r>
              <a:t>Shirt to T-shirt/top: 267 errors (seed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