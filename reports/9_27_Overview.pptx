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f35aa5ab084ba9" /><Relationship Type="http://schemas.openxmlformats.org/officeDocument/2006/relationships/extended-properties" Target="/docProps/app.xml" Id="Rd1c488d951464c4b" /><Relationship Type="http://schemas.openxmlformats.org/officeDocument/2006/relationships/officeDocument" Target="/ppt/presentation.xml" Id="R418787bfc31d46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bcdc9e54f349c0"/>
  </p:sldMasterIdLst>
  <p:notesMasterIdLst>
    <p:notesMasterId xmlns:r="http://schemas.openxmlformats.org/officeDocument/2006/relationships" r:id="Rfb0ddf0b95fc49e7"/>
  </p:notesMasterIdLst>
  <p:sldIdLst>
    <p:sldId xmlns:r="http://schemas.openxmlformats.org/officeDocument/2006/relationships" id="256" r:id="R1922cbe787974353"/>
    <p:sldId xmlns:r="http://schemas.openxmlformats.org/officeDocument/2006/relationships" id="257" r:id="R3d751f57676e4920"/>
    <p:sldId xmlns:r="http://schemas.openxmlformats.org/officeDocument/2006/relationships" id="258" r:id="R84fa535d5089401d"/>
    <p:sldId xmlns:r="http://schemas.openxmlformats.org/officeDocument/2006/relationships" id="259" r:id="R8e57ac95a0f842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66f481c0d6426a" /><Relationship Type="http://schemas.openxmlformats.org/officeDocument/2006/relationships/slideMaster" Target="/ppt/slideMasters/slideMaster1.xml" Id="R66bcdc9e54f349c0" /><Relationship Type="http://schemas.openxmlformats.org/officeDocument/2006/relationships/notesMaster" Target="/ppt/notesMasters/notesMaster1.xml" Id="Rfb0ddf0b95fc49e7" /><Relationship Type="http://schemas.openxmlformats.org/officeDocument/2006/relationships/presProps" Target="/ppt/presProps.xml" Id="R41dbe2d5f612406a" /><Relationship Type="http://schemas.openxmlformats.org/officeDocument/2006/relationships/tableStyles" Target="/ppt/tableStyles.xml" Id="R738cd086abd34617" /><Relationship Type="http://schemas.openxmlformats.org/officeDocument/2006/relationships/slide" Target="/ppt/slides/slide1.xml" Id="R1922cbe787974353" /><Relationship Type="http://schemas.openxmlformats.org/officeDocument/2006/relationships/slide" Target="/ppt/slides/slide2.xml" Id="R3d751f57676e4920" /><Relationship Type="http://schemas.openxmlformats.org/officeDocument/2006/relationships/slide" Target="/ppt/slides/slide3.xml" Id="R84fa535d5089401d" /><Relationship Type="http://schemas.openxmlformats.org/officeDocument/2006/relationships/slide" Target="/ppt/slides/slide4.xml" Id="R8e57ac95a0f842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eda7d8955044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581e7037b1423c" /><Relationship Type="http://schemas.openxmlformats.org/officeDocument/2006/relationships/notesMaster" Target="/ppt/notesMasters/notesMaster1.xml" Id="R5e258ba6aaf446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a6b0ed25b74f39" /><Relationship Type="http://schemas.openxmlformats.org/officeDocument/2006/relationships/notesMaster" Target="/ppt/notesMasters/notesMaster1.xml" Id="R58250eab1cf44e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6e35c012844b04" /><Relationship Type="http://schemas.openxmlformats.org/officeDocument/2006/relationships/notesMaster" Target="/ppt/notesMasters/notesMaster1.xml" Id="Raa59c9dc1c214e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64aac6a65d49f8" /><Relationship Type="http://schemas.openxmlformats.org/officeDocument/2006/relationships/notesMaster" Target="/ppt/notesMasters/notesMaster1.xml" Id="R0239b9c05b824c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0:00–0:40. We study image classification with unequal client label proportions. Ten clients retain equal quantities. Our questions concern the centralized gap, label skew and aggregation frequency. Sources: project report Section I; FedAvg https://proceedings.mlr.press/v54/mcmahan17a.html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0:40–1:25. One CNN and a fixed split support all three setups. Each client receives the same global snapshot. Setup 1 compares centralized and IID; Setup 2 varies skew; Setup 3 compares E1R30 and E3R10 at fixed exposure. Dataset: https://github.com/zalandoresearch/fashion-mnist . Evidence: DATA.md and configs.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1:25–2:15. The table shows final checkpoints, mean and sample SD across seeds 42/43/44. Strong loses 5.52 pp versus IID. E3 differs by +0.04 pp, without proof of equivalence. Source: outputs/tables/summary.csv and the fifteen final_metrics.json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2:15–2:55. The result applies to this dataset, CNN and simulation. Client drift is plausible but unmeasured. Show one pretrained strong seed-42 prediction; stop before three minutes. All members prepare for the following twelve-minute Q/A. Image: Fashion-MNIST, Zalando Research, MIT; recorded test indices 40,145,226,269,286,293,322,344. Source: outputs/tables/error_examples.csv. Drift context: https://proceedings.mlr.press/v119/karimireddy20a.html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7b59e05b040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1e442edbd548eb" /><Relationship Type="http://schemas.openxmlformats.org/officeDocument/2006/relationships/slideLayout" Target="/ppt/slideLayouts/slideLayout1.xml" Id="R4c1b12dadd3d49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1b12dadd3d49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7852c7cca4237" /><Relationship Type="http://schemas.openxmlformats.org/officeDocument/2006/relationships/notesSlide" Target="/ppt/notesSlides/notesSlide1.xml" Id="Rabf129cd26a54e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d4d961b6c494c" /><Relationship Type="http://schemas.openxmlformats.org/officeDocument/2006/relationships/notesSlide" Target="/ppt/notesSlides/notesSlide2.xml" Id="R2235d069abc742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fe7c15f5a4fc5" /><Relationship Type="http://schemas.openxmlformats.org/officeDocument/2006/relationships/notesSlide" Target="/ppt/notesSlides/notesSlide3.xml" Id="Rb177dec83aca46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6b65d45d642e1" /><Relationship Type="http://schemas.openxmlformats.org/officeDocument/2006/relationships/image" Target="/ppt/media/image.png" Id="R0c7896f32af84488" /><Relationship Type="http://schemas.openxmlformats.org/officeDocument/2006/relationships/notesSlide" Target="/ppt/notesSlides/notesSlide4.xml" Id="R2dba1afc483942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3D6D9-5232-4766-BAD5-2E5BC4F0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E55"/>
                </a:solidFill>
                <a:latin typeface="Arial"/>
                <a:ea typeface="Arial"/>
                <a:cs typeface="Arial"/>
              </a:rPr>
              <a:t>Problem &amp; 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1F396-39D8-4958-BA7A-E7552881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Group 9 - Topic 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92200-B3E7-4B4E-A311-9891CFD2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2E55"/>
                </a:solidFill>
                <a:latin typeface="Arial"/>
                <a:ea typeface="Arial"/>
                <a:cs typeface="Arial"/>
              </a:rPr>
              <a:t>Federated Image Classification</a:t>
            </a:r>
          </a:p>
          <a:p xmlns:a="http://schemas.openxmlformats.org/drawingml/2006/main">
            <a:pPr>
              <a:defRPr sz="3600" b="1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2E55"/>
                </a:solidFill>
                <a:latin typeface="Arial"/>
                <a:ea typeface="Arial"/>
                <a:cs typeface="Arial"/>
              </a:rPr>
              <a:t>under Non-IID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1F905-A223-485E-B3DE-7B8205C1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How does client label skew change global classification quality?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894DC-6F6A-48C6-AA66-E9B7228D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10 clients, equal image counts, different label proportions.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313AF-616E-4337-9F4C-C6AD1D72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Compare centralized training, skew severity and local epochs.</a:t>
            </a:r>
          </a:p>
        </p:txBody>
      </p:sp>
    </p:spTree>
    <p:extLst>
      <p:ext uri="{BB962C8B-B14F-4D97-AF65-F5344CB8AC3E}">
        <p14:creationId xmlns:p14="http://schemas.microsoft.com/office/powerpoint/2010/main" val="1908787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D00CF-E911-404F-BC94-8F143962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E55"/>
                </a:solidFill>
                <a:latin typeface="Arial"/>
                <a:ea typeface="Arial"/>
                <a:cs typeface="Arial"/>
              </a:rPr>
              <a:t>Method &amp;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C0046-540B-4B17-801E-3541A226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Group 9 - Topic 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F975C-53C6-4EC8-B7A4-BE90CCDA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Fashion-MNIST: 54k train / 6k validation / 10k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024D3-E77D-4427-9327-3CDF9E29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Small CNN, 105,866 parameters. Weighted FedAvg in PyTorch.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530E9-A48A-4287-A3E3-9ACB2FD4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Setup 1: Centralized versus FedAvg IID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3B82A-7859-498E-9AB6-F49F06EE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Setup 2: IID, mild and strong label skew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94B49-D191-4C5A-92E5-4BA19FB8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Setup 3: Strong E1R30 versus E3R10 at equal exposure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253F2-68C2-4CBB-B4BE-A0E0EB4B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5 configurations x 3 seeds. 1,620,000 image exposures per run.</a:t>
            </a:r>
          </a:p>
        </p:txBody>
      </p:sp>
    </p:spTree>
    <p:extLst>
      <p:ext uri="{BB962C8B-B14F-4D97-AF65-F5344CB8AC3E}">
        <p14:creationId xmlns:p14="http://schemas.microsoft.com/office/powerpoint/2010/main" val="16695158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80A28-3394-4895-AC02-94FC02E5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E55"/>
                </a:solidFill>
                <a:latin typeface="Arial"/>
                <a:ea typeface="Arial"/>
                <a:cs typeface="Arial"/>
              </a:rPr>
              <a:t>Key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A455F-DD7D-4D89-8073-FD40A11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Group 9 - Topic 27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67627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381250"/>
                <a:gridCol w="1666875"/>
              </a:tblGrid>
              <a:tr h="587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92E55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76200" marR="76200" marT="114300" marB="1143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92E55"/>
                          </a:solidFill>
                          <a:latin typeface="Arial"/>
                          <a:ea typeface="Arial"/>
                          <a:cs typeface="Arial"/>
                        </a:rPr>
                        <a:t>Accuracy (%)</a:t>
                      </a:r>
                    </a:p>
                  </a:txBody>
                  <a:tcPr marL="76200" marR="76200" marT="114300" marB="1143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92E55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76200" marR="76200" marT="114300" marB="114300">
                    <a:solidFill>
                      <a:srgbClr val="EEF2F7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E55"/>
                          </a:solidFill>
                          <a:latin typeface="Arial"/>
                          <a:ea typeface="Arial"/>
                          <a:cs typeface="Arial"/>
                        </a:rPr>
                        <a:t>Centralized</a:t>
                      </a:r>
                    </a:p>
                  </a:txBody>
                  <a:tcPr marL="76200" marR="762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E55"/>
                          </a:solidFill>
                          <a:latin typeface="Arial"/>
                          <a:ea typeface="Arial"/>
                          <a:cs typeface="Arial"/>
                        </a:rPr>
                        <a:t>90.13 +/- 0.14</a:t>
                      </a:r>
                    </a:p>
                  </a:txBody>
                  <a:tcPr marL="76200" marR="762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E55"/>
                          </a:solidFill>
                          <a:latin typeface="Arial"/>
                          <a:ea typeface="Arial"/>
                          <a:cs typeface="Arial"/>
                        </a:rPr>
                        <a:t>0.9004</a:t>
                      </a:r>
                    </a:p>
                  </a:txBody>
                  <a:tcPr marL="76200" marR="76200" marT="114300" marB="11430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E55"/>
                          </a:solidFill>
                          <a:latin typeface="Arial"/>
                          <a:ea typeface="Arial"/>
                          <a:cs typeface="Arial"/>
                        </a:rPr>
                        <a:t>FedAvg IID</a:t>
                      </a:r>
                    </a:p>
                  </a:txBody>
                  <a:tcPr marL="76200" marR="762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E55"/>
                          </a:solidFill>
                          <a:latin typeface="Arial"/>
                          <a:ea typeface="Arial"/>
                          <a:cs typeface="Arial"/>
                        </a:rPr>
                        <a:t>83.25 +/- 0.58</a:t>
                      </a:r>
                    </a:p>
                  </a:txBody>
                  <a:tcPr marL="76200" marR="762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E55"/>
                          </a:solidFill>
                          <a:latin typeface="Arial"/>
                          <a:ea typeface="Arial"/>
                          <a:cs typeface="Arial"/>
                        </a:rPr>
                        <a:t>0.8317</a:t>
                      </a:r>
                    </a:p>
                  </a:txBody>
                  <a:tcPr marL="76200" marR="76200" marT="114300" marB="11430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E55"/>
                          </a:solidFill>
                          <a:latin typeface="Arial"/>
                          <a:ea typeface="Arial"/>
                          <a:cs typeface="Arial"/>
                        </a:rPr>
                        <a:t>FedAvg mild</a:t>
                      </a:r>
                    </a:p>
                  </a:txBody>
                  <a:tcPr marL="76200" marR="762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E55"/>
                          </a:solidFill>
                          <a:latin typeface="Arial"/>
                          <a:ea typeface="Arial"/>
                          <a:cs typeface="Arial"/>
                        </a:rPr>
                        <a:t>81.93 +/- 0.18</a:t>
                      </a:r>
                    </a:p>
                  </a:txBody>
                  <a:tcPr marL="76200" marR="762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E55"/>
                          </a:solidFill>
                          <a:latin typeface="Arial"/>
                          <a:ea typeface="Arial"/>
                          <a:cs typeface="Arial"/>
                        </a:rPr>
                        <a:t>0.8154</a:t>
                      </a:r>
                    </a:p>
                  </a:txBody>
                  <a:tcPr marL="76200" marR="76200" marT="114300" marB="11430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E55"/>
                          </a:solidFill>
                          <a:latin typeface="Arial"/>
                          <a:ea typeface="Arial"/>
                          <a:cs typeface="Arial"/>
                        </a:rPr>
                        <a:t>FedAvg strong</a:t>
                      </a:r>
                    </a:p>
                  </a:txBody>
                  <a:tcPr marL="76200" marR="762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E55"/>
                          </a:solidFill>
                          <a:latin typeface="Arial"/>
                          <a:ea typeface="Arial"/>
                          <a:cs typeface="Arial"/>
                        </a:rPr>
                        <a:t>77.73 +/- 0.92</a:t>
                      </a:r>
                    </a:p>
                  </a:txBody>
                  <a:tcPr marL="76200" marR="762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E55"/>
                          </a:solidFill>
                          <a:latin typeface="Arial"/>
                          <a:ea typeface="Arial"/>
                          <a:cs typeface="Arial"/>
                        </a:rPr>
                        <a:t>0.7685</a:t>
                      </a:r>
                    </a:p>
                  </a:txBody>
                  <a:tcPr marL="76200" marR="76200" marT="114300" marB="11430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E55"/>
                          </a:solidFill>
                          <a:latin typeface="Arial"/>
                          <a:ea typeface="Arial"/>
                          <a:cs typeface="Arial"/>
                        </a:rPr>
                        <a:t>Strong E3R10</a:t>
                      </a:r>
                    </a:p>
                  </a:txBody>
                  <a:tcPr marL="76200" marR="762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E55"/>
                          </a:solidFill>
                          <a:latin typeface="Arial"/>
                          <a:ea typeface="Arial"/>
                          <a:cs typeface="Arial"/>
                        </a:rPr>
                        <a:t>77.77 +/- 0.60</a:t>
                      </a:r>
                    </a:p>
                  </a:txBody>
                  <a:tcPr marL="76200" marR="762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E55"/>
                          </a:solidFill>
                          <a:latin typeface="Arial"/>
                          <a:ea typeface="Arial"/>
                          <a:cs typeface="Arial"/>
                        </a:rPr>
                        <a:t>0.7711</a:t>
                      </a:r>
                    </a:p>
                  </a:txBody>
                  <a:tcPr marL="76200" marR="7620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960E9-162C-42F4-88E4-B1E4CED9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66875"/>
            <a:ext cx="3667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92E55"/>
                </a:solidFill>
                <a:latin typeface="Arial"/>
                <a:ea typeface="Arial"/>
                <a:cs typeface="Arial"/>
              </a:rPr>
              <a:t>Strong skew: -5.52 pp</a:t>
            </a:r>
          </a:p>
          <a:p xmlns:a="http://schemas.openxmlformats.org/drawingml/2006/main">
            <a:pPr>
              <a:defRPr sz="2475" b="1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92E55"/>
                </a:solidFill>
                <a:latin typeface="Arial"/>
                <a:ea typeface="Arial"/>
                <a:cs typeface="Arial"/>
              </a:rPr>
              <a:t>versus IID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F52AD-C6E8-4302-8440-29C9FB43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33750"/>
            <a:ext cx="3667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2E55"/>
                </a:solidFill>
                <a:latin typeface="Arial"/>
                <a:ea typeface="Arial"/>
                <a:cs typeface="Arial"/>
              </a:rPr>
              <a:t>E3R10: +0.04 pp</a:t>
            </a:r>
          </a:p>
          <a:p xmlns:a="http://schemas.openxmlformats.org/drawingml/2006/main">
            <a:pPr>
              <a:defRPr sz="2400" b="1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2E55"/>
                </a:solidFill>
                <a:latin typeface="Arial"/>
                <a:ea typeface="Arial"/>
                <a:cs typeface="Arial"/>
              </a:rPr>
              <a:t>versus E1R30 with</a:t>
            </a:r>
          </a:p>
          <a:p xmlns:a="http://schemas.openxmlformats.org/drawingml/2006/main">
            <a:pPr>
              <a:defRPr sz="2400" b="1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2E55"/>
                </a:solidFill>
                <a:latin typeface="Arial"/>
                <a:ea typeface="Arial"/>
                <a:cs typeface="Arial"/>
              </a:rPr>
              <a:t>20 fewer rounds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14B85-2979-4237-B4AF-F3244976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Final checkpoints. Mean +/- sample SD over three seeds.</a:t>
            </a:r>
          </a:p>
        </p:txBody>
      </p:sp>
    </p:spTree>
    <p:extLst>
      <p:ext uri="{BB962C8B-B14F-4D97-AF65-F5344CB8AC3E}">
        <p14:creationId xmlns:p14="http://schemas.microsoft.com/office/powerpoint/2010/main" val="7504738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0080E-3E59-4F4B-89D1-68E19E2D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E55"/>
                </a:solidFill>
                <a:latin typeface="Arial"/>
                <a:ea typeface="Arial"/>
                <a:cs typeface="Arial"/>
              </a:rPr>
              <a:t>Conclusion /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BCCF2-0EBD-4D4F-86C6-30716DB7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Group 9 - Topic 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009CA-4BCB-47FE-8A16-F7406DE4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Label skew reduces global quality in this protocol.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F7469-D354-46E2-A414-7F0C759F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Fewer rounds retain similar observed mean accuracy at fixed exposure.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2FBE1-1FB8-464B-9F21-34DA7118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619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Limits: one dataset/CNN, three seeds, simulated clients.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991AF-2115-4D39-A771-9E83A7F3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Demo: strong seed 42, one test prediction from a trained checkpoint.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896f32af84488"/>
          <a:stretch xmlns:a="http://schemas.openxmlformats.org/drawingml/2006/main"/>
        </p:blipFill>
        <p:spPr>
          <a:xfrm xmlns:a="http://schemas.openxmlformats.org/drawingml/2006/main">
            <a:off x="7429500" y="1886389"/>
            <a:ext cx="4143375" cy="246609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6775B-9234-4CFE-84F5-7FCCCBCD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404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Shirt recall: 0.2690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1EC04-0943-4C05-98D4-6DCF5FB6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81625"/>
            <a:ext cx="4048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2E5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E55"/>
                </a:solidFill>
                <a:latin typeface="Arial"/>
                <a:ea typeface="Arial"/>
                <a:cs typeface="Arial"/>
              </a:rPr>
              <a:t>Shirt to T-shirt/top: 267 errors (seed 42)</a:t>
            </a:r>
          </a:p>
        </p:txBody>
      </p:sp>
    </p:spTree>
    <p:extLst>
      <p:ext uri="{BB962C8B-B14F-4D97-AF65-F5344CB8AC3E}">
        <p14:creationId xmlns:p14="http://schemas.microsoft.com/office/powerpoint/2010/main" val="637752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2026-10-04T05:53:23.1730000Z</dcterms:created>
  <dcterms:modified xsi:type="dcterms:W3CDTF">2026-10-04T05:53:23.1730000Z</dcterms:modified>
</coreProperties>
</file>